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bookmarkIdSeed="4">
  <p:sldMasterIdLst>
    <p:sldMasterId id="2147483648" r:id="rId1"/>
  </p:sldMasterIdLst>
  <p:notesMasterIdLst>
    <p:notesMasterId r:id="rId35"/>
  </p:notesMasterIdLst>
  <p:sldIdLst>
    <p:sldId id="256" r:id="rId2"/>
    <p:sldId id="661" r:id="rId3"/>
    <p:sldId id="744" r:id="rId4"/>
    <p:sldId id="717" r:id="rId5"/>
    <p:sldId id="745" r:id="rId6"/>
    <p:sldId id="734" r:id="rId7"/>
    <p:sldId id="755" r:id="rId8"/>
    <p:sldId id="763" r:id="rId9"/>
    <p:sldId id="746" r:id="rId10"/>
    <p:sldId id="747" r:id="rId11"/>
    <p:sldId id="748" r:id="rId12"/>
    <p:sldId id="749" r:id="rId13"/>
    <p:sldId id="751" r:id="rId14"/>
    <p:sldId id="752" r:id="rId15"/>
    <p:sldId id="753" r:id="rId16"/>
    <p:sldId id="754" r:id="rId17"/>
    <p:sldId id="764" r:id="rId18"/>
    <p:sldId id="767" r:id="rId19"/>
    <p:sldId id="765" r:id="rId20"/>
    <p:sldId id="757" r:id="rId21"/>
    <p:sldId id="758" r:id="rId22"/>
    <p:sldId id="724" r:id="rId23"/>
    <p:sldId id="768" r:id="rId24"/>
    <p:sldId id="769" r:id="rId25"/>
    <p:sldId id="770" r:id="rId26"/>
    <p:sldId id="771" r:id="rId27"/>
    <p:sldId id="725" r:id="rId28"/>
    <p:sldId id="772" r:id="rId29"/>
    <p:sldId id="773" r:id="rId30"/>
    <p:sldId id="774" r:id="rId31"/>
    <p:sldId id="775" r:id="rId32"/>
    <p:sldId id="728" r:id="rId33"/>
    <p:sldId id="710" r:id="rId34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66"/>
    <a:srgbClr val="FFFFCC"/>
    <a:srgbClr val="AAEDF4"/>
    <a:srgbClr val="CFCAD4"/>
    <a:srgbClr val="0099FF"/>
    <a:srgbClr val="004182"/>
    <a:srgbClr val="0000CC"/>
    <a:srgbClr val="33CCFF"/>
    <a:srgbClr val="0066FF"/>
    <a:srgbClr val="008E4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DA37D80-6434-44D0-A028-1B22A696006F}" styleName="浅色样式 3 - 强调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度样式 2 - 强调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3C2FFA5D-87B4-456A-9821-1D502468CF0F}" styleName="主题样式 1 - 强调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72833802-FEF1-4C79-8D5D-14CF1EAF98D9}" styleName="浅色样式 2 - 强调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浅色样式 2 - 强调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浅色样式 3 - 强调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D27102A9-8310-4765-A935-A1911B00CA55}" styleName="浅色样式 1 - 强调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40" autoAdjust="0"/>
    <p:restoredTop sz="95461" autoAdjust="0"/>
  </p:normalViewPr>
  <p:slideViewPr>
    <p:cSldViewPr>
      <p:cViewPr varScale="1">
        <p:scale>
          <a:sx n="79" d="100"/>
          <a:sy n="79" d="100"/>
        </p:scale>
        <p:origin x="1266" y="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-384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ableStyles" Target="tableStyle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0.wmf"/><Relationship Id="rId2" Type="http://schemas.openxmlformats.org/officeDocument/2006/relationships/image" Target="../media/image9.wmf"/><Relationship Id="rId1" Type="http://schemas.openxmlformats.org/officeDocument/2006/relationships/image" Target="../media/image7.wmf"/><Relationship Id="rId6" Type="http://schemas.openxmlformats.org/officeDocument/2006/relationships/image" Target="../media/image13.wmf"/><Relationship Id="rId5" Type="http://schemas.openxmlformats.org/officeDocument/2006/relationships/image" Target="../media/image12.wmf"/><Relationship Id="rId4" Type="http://schemas.openxmlformats.org/officeDocument/2006/relationships/image" Target="../media/image11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8.wmf"/><Relationship Id="rId2" Type="http://schemas.openxmlformats.org/officeDocument/2006/relationships/image" Target="../media/image17.wmf"/><Relationship Id="rId1" Type="http://schemas.openxmlformats.org/officeDocument/2006/relationships/image" Target="../media/image16.wmf"/><Relationship Id="rId5" Type="http://schemas.openxmlformats.org/officeDocument/2006/relationships/image" Target="../media/image14.wmf"/><Relationship Id="rId4" Type="http://schemas.openxmlformats.org/officeDocument/2006/relationships/image" Target="../media/image19.emf"/></Relationships>
</file>

<file path=ppt/drawings/_rels/vmlDrawing5.vml.rels><?xml version="1.0" encoding="UTF-8" standalone="yes"?>
<Relationships xmlns="http://schemas.openxmlformats.org/package/2006/relationships"><Relationship Id="rId3" Type="http://schemas.openxmlformats.org/officeDocument/2006/relationships/image" Target="../media/image24.wmf"/><Relationship Id="rId2" Type="http://schemas.openxmlformats.org/officeDocument/2006/relationships/image" Target="../media/image23.wmf"/><Relationship Id="rId1" Type="http://schemas.openxmlformats.org/officeDocument/2006/relationships/image" Target="../media/image22.wmf"/><Relationship Id="rId5" Type="http://schemas.openxmlformats.org/officeDocument/2006/relationships/image" Target="../media/image26.wmf"/><Relationship Id="rId4" Type="http://schemas.openxmlformats.org/officeDocument/2006/relationships/image" Target="../media/image25.wmf"/></Relationships>
</file>

<file path=ppt/drawings/_rels/vmlDrawing6.vml.rels><?xml version="1.0" encoding="UTF-8" standalone="yes"?>
<Relationships xmlns="http://schemas.openxmlformats.org/package/2006/relationships"><Relationship Id="rId3" Type="http://schemas.openxmlformats.org/officeDocument/2006/relationships/image" Target="../media/image29.emf"/><Relationship Id="rId2" Type="http://schemas.openxmlformats.org/officeDocument/2006/relationships/image" Target="../media/image28.emf"/><Relationship Id="rId1" Type="http://schemas.openxmlformats.org/officeDocument/2006/relationships/image" Target="../media/image27.emf"/><Relationship Id="rId6" Type="http://schemas.openxmlformats.org/officeDocument/2006/relationships/image" Target="../media/image32.emf"/><Relationship Id="rId5" Type="http://schemas.openxmlformats.org/officeDocument/2006/relationships/image" Target="../media/image31.emf"/><Relationship Id="rId4" Type="http://schemas.openxmlformats.org/officeDocument/2006/relationships/image" Target="../media/image30.emf"/></Relationships>
</file>

<file path=ppt/drawings/_rels/vmlDrawing7.v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7" Type="http://schemas.openxmlformats.org/officeDocument/2006/relationships/image" Target="../media/image44.emf"/><Relationship Id="rId2" Type="http://schemas.openxmlformats.org/officeDocument/2006/relationships/image" Target="../media/image39.emf"/><Relationship Id="rId1" Type="http://schemas.openxmlformats.org/officeDocument/2006/relationships/image" Target="../media/image38.emf"/><Relationship Id="rId6" Type="http://schemas.openxmlformats.org/officeDocument/2006/relationships/image" Target="../media/image43.emf"/><Relationship Id="rId5" Type="http://schemas.openxmlformats.org/officeDocument/2006/relationships/image" Target="../media/image42.emf"/><Relationship Id="rId4" Type="http://schemas.openxmlformats.org/officeDocument/2006/relationships/image" Target="../media/image41.emf"/></Relationships>
</file>

<file path=ppt/drawings/_rels/vmlDrawing8.vml.rels><?xml version="1.0" encoding="UTF-8" standalone="yes"?>
<Relationships xmlns="http://schemas.openxmlformats.org/package/2006/relationships"><Relationship Id="rId1" Type="http://schemas.openxmlformats.org/officeDocument/2006/relationships/image" Target="../media/image64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>
            <a:extLst>
              <a:ext uri="{FF2B5EF4-FFF2-40B4-BE49-F238E27FC236}">
                <a16:creationId xmlns:a16="http://schemas.microsoft.com/office/drawing/2014/main" id="{DA104CDE-C056-43AA-AD4C-4365C88C8CF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19804BC8-D4B8-47E9-9F6D-3152AD546FA4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FD4C72D-B690-4F55-B9FE-580E96D5469F}" type="datetimeFigureOut">
              <a:rPr lang="zh-CN" altLang="en-US"/>
              <a:pPr>
                <a:defRPr/>
              </a:pPr>
              <a:t>2021/10/22</a:t>
            </a:fld>
            <a:endParaRPr lang="zh-CN" altLang="en-US"/>
          </a:p>
        </p:txBody>
      </p:sp>
      <p:sp>
        <p:nvSpPr>
          <p:cNvPr id="4" name="幻灯片图像占位符 3">
            <a:extLst>
              <a:ext uri="{FF2B5EF4-FFF2-40B4-BE49-F238E27FC236}">
                <a16:creationId xmlns:a16="http://schemas.microsoft.com/office/drawing/2014/main" id="{E640BAC7-1837-45F1-BD45-6E6FF2018E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>
            <a:extLst>
              <a:ext uri="{FF2B5EF4-FFF2-40B4-BE49-F238E27FC236}">
                <a16:creationId xmlns:a16="http://schemas.microsoft.com/office/drawing/2014/main" id="{496E0C2F-27A7-4C9E-A447-1EB4A88F7DD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32E83B-0034-4B93-A988-86465432498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877611A-4364-428C-B560-91BC43285FF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9D63A45E-C288-4A8D-AC4B-BD4450143752}" type="slidenum">
              <a:rPr lang="zh-CN" altLang="en-US"/>
              <a:pPr>
                <a:defRPr/>
              </a:pPr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幻灯片图像占位符 1">
            <a:extLst>
              <a:ext uri="{FF2B5EF4-FFF2-40B4-BE49-F238E27FC236}">
                <a16:creationId xmlns:a16="http://schemas.microsoft.com/office/drawing/2014/main" id="{0B7E866F-0983-4F45-8A8C-64A0E8B16CD1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171" name="备注占位符 2">
            <a:extLst>
              <a:ext uri="{FF2B5EF4-FFF2-40B4-BE49-F238E27FC236}">
                <a16:creationId xmlns:a16="http://schemas.microsoft.com/office/drawing/2014/main" id="{0167A2B8-0077-4D13-BCA7-FA7CE41A072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CN" altLang="en-US" dirty="0"/>
          </a:p>
        </p:txBody>
      </p:sp>
      <p:sp>
        <p:nvSpPr>
          <p:cNvPr id="7172" name="灯片编号占位符 3">
            <a:extLst>
              <a:ext uri="{FF2B5EF4-FFF2-40B4-BE49-F238E27FC236}">
                <a16:creationId xmlns:a16="http://schemas.microsoft.com/office/drawing/2014/main" id="{92B0A23C-9C29-49A7-B4A9-81E8499DB3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fld id="{F83FE343-1C5B-4F74-9009-1597E4358668}" type="slidenum">
              <a:rPr lang="zh-CN" altLang="en-US" smtClean="0"/>
              <a:pPr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719654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448749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76155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071616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3953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416999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28516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537326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624791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9743641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356437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2707185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3776721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9112885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6996912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1955234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1556027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9633383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196487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407431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41915805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2023343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8848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505632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012356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7745129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205087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6028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948371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285867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9D63A45E-C288-4A8D-AC4B-BD4450143752}" type="slidenum">
              <a:rPr lang="zh-CN" altLang="en-US" smtClean="0"/>
              <a:pPr>
                <a:defRPr/>
              </a:pPr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17822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jpeg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4" descr="a1">
            <a:extLst>
              <a:ext uri="{FF2B5EF4-FFF2-40B4-BE49-F238E27FC236}">
                <a16:creationId xmlns:a16="http://schemas.microsoft.com/office/drawing/2014/main" id="{8376C774-772E-44FD-AECA-B6609FEE178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1">
            <a:extLst>
              <a:ext uri="{FF2B5EF4-FFF2-40B4-BE49-F238E27FC236}">
                <a16:creationId xmlns:a16="http://schemas.microsoft.com/office/drawing/2014/main" id="{1D524AD5-4F33-4B0A-9C66-02272CD2A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0" y="1989138"/>
            <a:ext cx="9144000" cy="1727200"/>
          </a:xfrm>
          <a:prstGeom prst="rect">
            <a:avLst/>
          </a:prstGeom>
          <a:solidFill>
            <a:srgbClr val="AF2125"/>
          </a:solidFill>
          <a:ln w="25400">
            <a:noFill/>
            <a:miter lim="800000"/>
          </a:ln>
        </p:spPr>
        <p:txBody>
          <a:bodyPr anchor="ctr"/>
          <a:lstStyle>
            <a:lvl1pPr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defRPr/>
            </a:pPr>
            <a:endParaRPr lang="zh-CN" altLang="zh-CN" dirty="0">
              <a:solidFill>
                <a:srgbClr val="005A9E"/>
              </a:solidFill>
            </a:endParaRPr>
          </a:p>
        </p:txBody>
      </p:sp>
      <p:sp>
        <p:nvSpPr>
          <p:cNvPr id="4" name="直接连接符 8">
            <a:extLst>
              <a:ext uri="{FF2B5EF4-FFF2-40B4-BE49-F238E27FC236}">
                <a16:creationId xmlns:a16="http://schemas.microsoft.com/office/drawing/2014/main" id="{87091437-B828-4AEC-B615-2356D478E9CD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0" y="3876675"/>
            <a:ext cx="9144000" cy="1588"/>
          </a:xfrm>
          <a:prstGeom prst="line">
            <a:avLst/>
          </a:prstGeom>
          <a:noFill/>
          <a:ln w="76200">
            <a:solidFill>
              <a:srgbClr val="AF212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5" name="TextBox 9">
            <a:extLst>
              <a:ext uri="{FF2B5EF4-FFF2-40B4-BE49-F238E27FC236}">
                <a16:creationId xmlns:a16="http://schemas.microsoft.com/office/drawing/2014/main" id="{E15E8A95-31E3-4260-ABAB-4888BBB1D36D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1785938" y="4916488"/>
            <a:ext cx="5500687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en-US" altLang="zh-CN"/>
          </a:p>
          <a:p>
            <a:pPr eaLnBrk="1" hangingPunct="1">
              <a:defRPr/>
            </a:pPr>
            <a:endParaRPr lang="en-US" altLang="zh-CN"/>
          </a:p>
          <a:p>
            <a:pPr eaLnBrk="1" hangingPunct="1">
              <a:defRPr/>
            </a:pPr>
            <a:endParaRPr lang="en-US" altLang="zh-CN"/>
          </a:p>
          <a:p>
            <a:pPr eaLnBrk="1" hangingPunct="1">
              <a:defRPr/>
            </a:pPr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21196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2">
            <a:extLst>
              <a:ext uri="{FF2B5EF4-FFF2-40B4-BE49-F238E27FC236}">
                <a16:creationId xmlns:a16="http://schemas.microsoft.com/office/drawing/2014/main" id="{8EE07F65-42E3-4996-8E3E-28B11FA4F07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CEB22DC3-BE72-43E5-B7B1-38A05C05DCC5}"/>
              </a:ext>
            </a:extLst>
          </p:cNvPr>
          <p:cNvCxnSpPr/>
          <p:nvPr userDrawn="1"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AF21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B4288C67-E6AE-4953-94CD-AC24BA6CB4DD}"/>
              </a:ext>
            </a:extLst>
          </p:cNvPr>
          <p:cNvCxnSpPr/>
          <p:nvPr userDrawn="1"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8">
            <a:extLst>
              <a:ext uri="{FF2B5EF4-FFF2-40B4-BE49-F238E27FC236}">
                <a16:creationId xmlns:a16="http://schemas.microsoft.com/office/drawing/2014/main" id="{F30FB1CC-043B-43EA-84EE-A284E33971C6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323850" y="6340475"/>
            <a:ext cx="4535488" cy="401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defRPr/>
            </a:pP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人工智能学院  </a:t>
            </a:r>
            <a:r>
              <a:rPr lang="en-US" altLang="zh-CN" sz="1200" b="1">
                <a:latin typeface="微软雅黑" panose="020B0503020204020204" pitchFamily="34" charset="-122"/>
                <a:ea typeface="微软雅黑" panose="020B0503020204020204" pitchFamily="34" charset="-122"/>
              </a:rPr>
              <a:t>School of Artificial Intelligence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6" name="标题 1"/>
          <p:cNvSpPr>
            <a:spLocks noGrp="1"/>
          </p:cNvSpPr>
          <p:nvPr>
            <p:ph type="title"/>
          </p:nvPr>
        </p:nvSpPr>
        <p:spPr>
          <a:xfrm>
            <a:off x="2928927" y="0"/>
            <a:ext cx="6072230" cy="725446"/>
          </a:xfrm>
        </p:spPr>
        <p:txBody>
          <a:bodyPr>
            <a:noAutofit/>
          </a:bodyPr>
          <a:lstStyle>
            <a:lvl1pPr>
              <a:defRPr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17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186766" cy="440056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21B49CC1-D144-4860-A0FA-3DC2636D699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29625" y="6238875"/>
            <a:ext cx="571500" cy="47625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E1390298-B43A-48E2-AADE-42A33456949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9906822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 descr="a2">
            <a:extLst>
              <a:ext uri="{FF2B5EF4-FFF2-40B4-BE49-F238E27FC236}">
                <a16:creationId xmlns:a16="http://schemas.microsoft.com/office/drawing/2014/main" id="{F83C347A-3743-4C60-B971-191502E6CB6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B0798681-E8A3-486B-94BE-DBEB3CEBB044}"/>
              </a:ext>
            </a:extLst>
          </p:cNvPr>
          <p:cNvCxnSpPr/>
          <p:nvPr userDrawn="1"/>
        </p:nvCxnSpPr>
        <p:spPr>
          <a:xfrm>
            <a:off x="-12700" y="6232525"/>
            <a:ext cx="4857750" cy="4763"/>
          </a:xfrm>
          <a:prstGeom prst="line">
            <a:avLst/>
          </a:prstGeom>
          <a:ln w="104775">
            <a:solidFill>
              <a:srgbClr val="AF2125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0814ACA-3844-44C4-9B04-DF31901E5C37}"/>
              </a:ext>
            </a:extLst>
          </p:cNvPr>
          <p:cNvCxnSpPr/>
          <p:nvPr userDrawn="1"/>
        </p:nvCxnSpPr>
        <p:spPr>
          <a:xfrm>
            <a:off x="-9525" y="6162675"/>
            <a:ext cx="4857750" cy="4763"/>
          </a:xfrm>
          <a:prstGeom prst="line">
            <a:avLst/>
          </a:prstGeom>
          <a:ln w="6350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12" descr="QQ截图20170908113630.jpg">
            <a:extLst>
              <a:ext uri="{FF2B5EF4-FFF2-40B4-BE49-F238E27FC236}">
                <a16:creationId xmlns:a16="http://schemas.microsoft.com/office/drawing/2014/main" id="{866FE49B-75D4-4B14-9F1D-F08992C4372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750" y="6310313"/>
            <a:ext cx="3214688" cy="5476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图片 8" descr="_MG_3655副本.jpg">
            <a:extLst>
              <a:ext uri="{FF2B5EF4-FFF2-40B4-BE49-F238E27FC236}">
                <a16:creationId xmlns:a16="http://schemas.microsoft.com/office/drawing/2014/main" id="{34A9B7FE-5765-47AE-8BD4-1F7723A6C7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screen"/>
          <a:stretch>
            <a:fillRect/>
          </a:stretch>
        </p:blipFill>
        <p:spPr>
          <a:xfrm>
            <a:off x="5072066" y="6003201"/>
            <a:ext cx="1080000" cy="719999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" name="图片 9" descr="_MG_3751副本.jpg">
            <a:extLst>
              <a:ext uri="{FF2B5EF4-FFF2-40B4-BE49-F238E27FC236}">
                <a16:creationId xmlns:a16="http://schemas.microsoft.com/office/drawing/2014/main" id="{29C56870-BCF5-48DF-9446-6CAD6B88BC6D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screen"/>
          <a:stretch>
            <a:fillRect/>
          </a:stretch>
        </p:blipFill>
        <p:spPr>
          <a:xfrm>
            <a:off x="6268121" y="6043172"/>
            <a:ext cx="960000" cy="640054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1" name="图片 10" descr="_MG_2253_2_1_0_tonemapped副本.jpg">
            <a:extLst>
              <a:ext uri="{FF2B5EF4-FFF2-40B4-BE49-F238E27FC236}">
                <a16:creationId xmlns:a16="http://schemas.microsoft.com/office/drawing/2014/main" id="{5AD25C0F-FEB7-4FB9-96E0-6AA38668BA4B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screen"/>
          <a:stretch>
            <a:fillRect/>
          </a:stretch>
        </p:blipFill>
        <p:spPr>
          <a:xfrm>
            <a:off x="7376711" y="6000768"/>
            <a:ext cx="1078651" cy="71916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2" name="标题 1">
            <a:extLst>
              <a:ext uri="{FF2B5EF4-FFF2-40B4-BE49-F238E27FC236}">
                <a16:creationId xmlns:a16="http://schemas.microsoft.com/office/drawing/2014/main" id="{5B790188-6C16-48F2-9B62-0494ADD2388C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2928938" y="142875"/>
            <a:ext cx="6072187" cy="582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>
              <a:defRPr/>
            </a:pPr>
            <a:r>
              <a:rPr lang="zh-CN" altLang="en-US" sz="3200" b="1">
                <a:solidFill>
                  <a:schemeClr val="bg1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单击此处编辑母版标题样式</a:t>
            </a: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928670"/>
            <a:ext cx="8229600" cy="488968"/>
          </a:xfrm>
        </p:spPr>
        <p:txBody>
          <a:bodyPr/>
          <a:lstStyle>
            <a:lvl1pPr algn="l">
              <a:defRPr sz="3200">
                <a:latin typeface="黑体" panose="02010609060101010101" pitchFamily="49" charset="-122"/>
                <a:ea typeface="黑体" panose="02010609060101010101" pitchFamily="49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8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8186766" cy="440056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13" name="Rectangle 6">
            <a:extLst>
              <a:ext uri="{FF2B5EF4-FFF2-40B4-BE49-F238E27FC236}">
                <a16:creationId xmlns:a16="http://schemas.microsoft.com/office/drawing/2014/main" id="{0868279F-EEC5-4A98-9BA7-9DC98C586B7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xfrm>
            <a:off x="8429625" y="6245225"/>
            <a:ext cx="571500" cy="476250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8C06C268-889A-4C92-96A1-A284A253748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567011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F4BAE1DE-ABD4-4F57-9D44-7AD2BB546A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08A9A4EE-9EF1-465F-A1B4-09F0D76216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8C6FCD18-B163-4A42-9E62-F38481004891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8DA8C73B-4CA7-4A68-8D33-E34C2A732E65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ctr" eaLnBrk="1" hangingPunct="1">
              <a:defRPr sz="140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F243CC10-B09F-4194-BEE7-12022B3714FA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defRPr sz="1400"/>
            </a:lvl1pPr>
          </a:lstStyle>
          <a:p>
            <a:pPr>
              <a:defRPr/>
            </a:pPr>
            <a:fld id="{2E338252-8A6C-4DE1-96BD-5DAB639A5B6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Arial" panose="020B060402020202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7.wmf"/><Relationship Id="rId5" Type="http://schemas.openxmlformats.org/officeDocument/2006/relationships/oleObject" Target="../embeddings/oleObject1.bin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4.bin"/><Relationship Id="rId13" Type="http://schemas.openxmlformats.org/officeDocument/2006/relationships/image" Target="../media/image12.wmf"/><Relationship Id="rId3" Type="http://schemas.openxmlformats.org/officeDocument/2006/relationships/notesSlide" Target="../notesSlides/notesSlide5.xml"/><Relationship Id="rId7" Type="http://schemas.openxmlformats.org/officeDocument/2006/relationships/image" Target="../media/image9.wmf"/><Relationship Id="rId12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3.bin"/><Relationship Id="rId11" Type="http://schemas.openxmlformats.org/officeDocument/2006/relationships/image" Target="../media/image11.wmf"/><Relationship Id="rId5" Type="http://schemas.openxmlformats.org/officeDocument/2006/relationships/image" Target="../media/image7.wmf"/><Relationship Id="rId15" Type="http://schemas.openxmlformats.org/officeDocument/2006/relationships/image" Target="../media/image13.wmf"/><Relationship Id="rId10" Type="http://schemas.openxmlformats.org/officeDocument/2006/relationships/oleObject" Target="../embeddings/oleObject5.bin"/><Relationship Id="rId4" Type="http://schemas.openxmlformats.org/officeDocument/2006/relationships/oleObject" Target="../embeddings/oleObject2.bin"/><Relationship Id="rId9" Type="http://schemas.openxmlformats.org/officeDocument/2006/relationships/image" Target="../media/image10.wmf"/><Relationship Id="rId14" Type="http://schemas.openxmlformats.org/officeDocument/2006/relationships/oleObject" Target="../embeddings/oleObject7.bin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4.wmf"/><Relationship Id="rId5" Type="http://schemas.openxmlformats.org/officeDocument/2006/relationships/oleObject" Target="../embeddings/oleObject8.bin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4.wmf"/><Relationship Id="rId3" Type="http://schemas.openxmlformats.org/officeDocument/2006/relationships/notesSlide" Target="../notesSlides/notesSlide11.xml"/><Relationship Id="rId7" Type="http://schemas.openxmlformats.org/officeDocument/2006/relationships/image" Target="../media/image17.wmf"/><Relationship Id="rId12" Type="http://schemas.openxmlformats.org/officeDocument/2006/relationships/oleObject" Target="../embeddings/oleObject1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9.emf"/><Relationship Id="rId5" Type="http://schemas.openxmlformats.org/officeDocument/2006/relationships/image" Target="../media/image16.wmf"/><Relationship Id="rId10" Type="http://schemas.openxmlformats.org/officeDocument/2006/relationships/oleObject" Target="../embeddings/oleObject12.bin"/><Relationship Id="rId4" Type="http://schemas.openxmlformats.org/officeDocument/2006/relationships/oleObject" Target="../embeddings/oleObject9.bin"/><Relationship Id="rId9" Type="http://schemas.openxmlformats.org/officeDocument/2006/relationships/image" Target="../media/image18.w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.bin"/><Relationship Id="rId13" Type="http://schemas.openxmlformats.org/officeDocument/2006/relationships/image" Target="../media/image26.wmf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23.wmf"/><Relationship Id="rId12" Type="http://schemas.openxmlformats.org/officeDocument/2006/relationships/oleObject" Target="../embeddings/oleObject1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6" Type="http://schemas.openxmlformats.org/officeDocument/2006/relationships/oleObject" Target="../embeddings/oleObject15.bin"/><Relationship Id="rId11" Type="http://schemas.openxmlformats.org/officeDocument/2006/relationships/image" Target="../media/image25.wmf"/><Relationship Id="rId5" Type="http://schemas.openxmlformats.org/officeDocument/2006/relationships/image" Target="../media/image22.wmf"/><Relationship Id="rId10" Type="http://schemas.openxmlformats.org/officeDocument/2006/relationships/oleObject" Target="../embeddings/oleObject17.bin"/><Relationship Id="rId4" Type="http://schemas.openxmlformats.org/officeDocument/2006/relationships/oleObject" Target="../embeddings/oleObject14.bin"/><Relationship Id="rId9" Type="http://schemas.openxmlformats.org/officeDocument/2006/relationships/image" Target="../media/image24.wmf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1.bin"/><Relationship Id="rId13" Type="http://schemas.openxmlformats.org/officeDocument/2006/relationships/image" Target="../media/image31.emf"/><Relationship Id="rId3" Type="http://schemas.openxmlformats.org/officeDocument/2006/relationships/notesSlide" Target="../notesSlides/notesSlide14.xml"/><Relationship Id="rId7" Type="http://schemas.openxmlformats.org/officeDocument/2006/relationships/image" Target="../media/image28.emf"/><Relationship Id="rId12" Type="http://schemas.openxmlformats.org/officeDocument/2006/relationships/oleObject" Target="../embeddings/oleObject2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6" Type="http://schemas.openxmlformats.org/officeDocument/2006/relationships/oleObject" Target="../embeddings/oleObject20.bin"/><Relationship Id="rId11" Type="http://schemas.openxmlformats.org/officeDocument/2006/relationships/image" Target="../media/image30.emf"/><Relationship Id="rId5" Type="http://schemas.openxmlformats.org/officeDocument/2006/relationships/image" Target="../media/image27.emf"/><Relationship Id="rId15" Type="http://schemas.openxmlformats.org/officeDocument/2006/relationships/image" Target="../media/image32.emf"/><Relationship Id="rId10" Type="http://schemas.openxmlformats.org/officeDocument/2006/relationships/oleObject" Target="../embeddings/oleObject22.bin"/><Relationship Id="rId4" Type="http://schemas.openxmlformats.org/officeDocument/2006/relationships/oleObject" Target="../embeddings/oleObject19.bin"/><Relationship Id="rId9" Type="http://schemas.openxmlformats.org/officeDocument/2006/relationships/image" Target="../media/image29.emf"/><Relationship Id="rId14" Type="http://schemas.openxmlformats.org/officeDocument/2006/relationships/oleObject" Target="../embeddings/oleObject24.bin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7.bin"/><Relationship Id="rId13" Type="http://schemas.openxmlformats.org/officeDocument/2006/relationships/image" Target="../media/image42.emf"/><Relationship Id="rId18" Type="http://schemas.openxmlformats.org/officeDocument/2006/relationships/image" Target="../media/image37.png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39.emf"/><Relationship Id="rId12" Type="http://schemas.openxmlformats.org/officeDocument/2006/relationships/oleObject" Target="../embeddings/oleObject29.bin"/><Relationship Id="rId17" Type="http://schemas.openxmlformats.org/officeDocument/2006/relationships/image" Target="../media/image44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31.bin"/><Relationship Id="rId1" Type="http://schemas.openxmlformats.org/officeDocument/2006/relationships/vmlDrawing" Target="../drawings/vmlDrawing7.vml"/><Relationship Id="rId6" Type="http://schemas.openxmlformats.org/officeDocument/2006/relationships/oleObject" Target="../embeddings/oleObject26.bin"/><Relationship Id="rId11" Type="http://schemas.openxmlformats.org/officeDocument/2006/relationships/image" Target="../media/image41.emf"/><Relationship Id="rId5" Type="http://schemas.openxmlformats.org/officeDocument/2006/relationships/image" Target="../media/image38.emf"/><Relationship Id="rId15" Type="http://schemas.openxmlformats.org/officeDocument/2006/relationships/image" Target="../media/image43.emf"/><Relationship Id="rId10" Type="http://schemas.openxmlformats.org/officeDocument/2006/relationships/oleObject" Target="../embeddings/oleObject28.bin"/><Relationship Id="rId4" Type="http://schemas.openxmlformats.org/officeDocument/2006/relationships/oleObject" Target="../embeddings/oleObject25.bin"/><Relationship Id="rId9" Type="http://schemas.openxmlformats.org/officeDocument/2006/relationships/image" Target="../media/image40.emf"/><Relationship Id="rId14" Type="http://schemas.openxmlformats.org/officeDocument/2006/relationships/oleObject" Target="../embeddings/oleObject30.bin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8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6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6.png"/><Relationship Id="rId4" Type="http://schemas.openxmlformats.org/officeDocument/2006/relationships/image" Target="../media/image55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6.png"/><Relationship Id="rId4" Type="http://schemas.openxmlformats.org/officeDocument/2006/relationships/image" Target="../media/image5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8.vml"/><Relationship Id="rId6" Type="http://schemas.openxmlformats.org/officeDocument/2006/relationships/image" Target="../media/image65.png"/><Relationship Id="rId5" Type="http://schemas.openxmlformats.org/officeDocument/2006/relationships/image" Target="../media/image64.wmf"/><Relationship Id="rId4" Type="http://schemas.openxmlformats.org/officeDocument/2006/relationships/oleObject" Target="../embeddings/oleObject32.bin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矩形 1">
            <a:extLst>
              <a:ext uri="{FF2B5EF4-FFF2-40B4-BE49-F238E27FC236}">
                <a16:creationId xmlns:a16="http://schemas.microsoft.com/office/drawing/2014/main" id="{8EFD6C23-1FE3-405C-AAAB-1EED6F6AC1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561556"/>
            <a:ext cx="9144000" cy="2175419"/>
          </a:xfrm>
          <a:prstGeom prst="rect">
            <a:avLst/>
          </a:prstGeom>
          <a:solidFill>
            <a:srgbClr val="AF2125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>
              <a:solidFill>
                <a:srgbClr val="005A9E"/>
              </a:solidFill>
            </a:endParaRPr>
          </a:p>
        </p:txBody>
      </p:sp>
      <p:sp>
        <p:nvSpPr>
          <p:cNvPr id="6147" name="直接连接符 3">
            <a:extLst>
              <a:ext uri="{FF2B5EF4-FFF2-40B4-BE49-F238E27FC236}">
                <a16:creationId xmlns:a16="http://schemas.microsoft.com/office/drawing/2014/main" id="{20139A90-26B2-46DF-A8A4-03FEAB63F3D3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876675"/>
            <a:ext cx="9144000" cy="1588"/>
          </a:xfrm>
          <a:prstGeom prst="line">
            <a:avLst/>
          </a:prstGeom>
          <a:noFill/>
          <a:ln w="76200">
            <a:solidFill>
              <a:srgbClr val="AF212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148" name="Rectangle 2">
            <a:extLst>
              <a:ext uri="{FF2B5EF4-FFF2-40B4-BE49-F238E27FC236}">
                <a16:creationId xmlns:a16="http://schemas.microsoft.com/office/drawing/2014/main" id="{73EF3B1D-6B95-4859-97D3-A65F45DE0BF1}"/>
              </a:ext>
            </a:extLst>
          </p:cNvPr>
          <p:cNvSpPr>
            <a:spLocks noGrp="1" noChangeArrowheads="1"/>
          </p:cNvSpPr>
          <p:nvPr>
            <p:ph type="ctrTitle" idx="4294967295"/>
          </p:nvPr>
        </p:nvSpPr>
        <p:spPr>
          <a:xfrm>
            <a:off x="-31230" y="1850132"/>
            <a:ext cx="9151938" cy="1866900"/>
          </a:xfrm>
        </p:spPr>
        <p:txBody>
          <a:bodyPr/>
          <a:lstStyle/>
          <a:p>
            <a:pPr eaLnBrk="1" hangingPunct="1">
              <a:lnSpc>
                <a:spcPct val="120000"/>
              </a:lnSpc>
              <a:spcBef>
                <a:spcPts val="0"/>
              </a:spcBef>
            </a:pPr>
            <a:r>
              <a:rPr lang="en-US" altLang="zh-CN" sz="2800" b="1" dirty="0">
                <a:solidFill>
                  <a:schemeClr val="bg1"/>
                </a:solidFill>
                <a:latin typeface="+mn-lt"/>
                <a:ea typeface="黑体" panose="02010609060101010101" pitchFamily="49" charset="-122"/>
              </a:rPr>
              <a:t>A </a:t>
            </a:r>
            <a:r>
              <a:rPr lang="en-US" altLang="zh-CN" sz="2800" b="1" dirty="0" err="1">
                <a:solidFill>
                  <a:schemeClr val="bg1"/>
                </a:solidFill>
                <a:latin typeface="+mn-lt"/>
                <a:ea typeface="黑体" panose="02010609060101010101" pitchFamily="49" charset="-122"/>
              </a:rPr>
              <a:t>Multiobjective</a:t>
            </a:r>
            <a:r>
              <a:rPr lang="en-US" altLang="zh-CN" sz="2800" b="1" dirty="0">
                <a:solidFill>
                  <a:schemeClr val="bg1"/>
                </a:solidFill>
                <a:latin typeface="+mn-lt"/>
                <a:ea typeface="黑体" panose="02010609060101010101" pitchFamily="49" charset="-122"/>
              </a:rPr>
              <a:t> Evolutionary Approach for Solving Large-Scale Network Reconstruction Problems via Logistic Principal Component Analysis</a:t>
            </a:r>
            <a:br>
              <a:rPr lang="en-US" altLang="zh-CN" sz="2800" b="1" dirty="0">
                <a:solidFill>
                  <a:schemeClr val="bg1"/>
                </a:solidFill>
                <a:latin typeface="+mn-lt"/>
                <a:ea typeface="黑体" panose="02010609060101010101" pitchFamily="49" charset="-122"/>
              </a:rPr>
            </a:br>
            <a:r>
              <a:rPr lang="en-US" altLang="zh-CN" sz="2800" b="1" dirty="0">
                <a:solidFill>
                  <a:schemeClr val="bg1"/>
                </a:solidFill>
                <a:latin typeface="+mn-lt"/>
                <a:ea typeface="黑体" panose="02010609060101010101" pitchFamily="49" charset="-122"/>
              </a:rPr>
              <a:t>(IEEE Transactions on Cybernetics 2021)</a:t>
            </a:r>
            <a:br>
              <a:rPr lang="en-US" altLang="zh-CN" sz="2800" b="1" dirty="0">
                <a:solidFill>
                  <a:schemeClr val="bg1"/>
                </a:solidFill>
                <a:latin typeface="+mn-lt"/>
                <a:ea typeface="黑体" panose="02010609060101010101" pitchFamily="49" charset="-122"/>
              </a:rPr>
            </a:br>
            <a:endParaRPr lang="zh-CN" altLang="zh-CN" sz="1600" b="1" dirty="0">
              <a:solidFill>
                <a:schemeClr val="bg1"/>
              </a:solidFill>
              <a:latin typeface="+mn-lt"/>
              <a:ea typeface="黑体" panose="02010609060101010101" pitchFamily="49" charset="-122"/>
            </a:endParaRPr>
          </a:p>
        </p:txBody>
      </p:sp>
      <p:sp>
        <p:nvSpPr>
          <p:cNvPr id="6149" name="TextBox 4">
            <a:extLst>
              <a:ext uri="{FF2B5EF4-FFF2-40B4-BE49-F238E27FC236}">
                <a16:creationId xmlns:a16="http://schemas.microsoft.com/office/drawing/2014/main" id="{F347A65D-885F-499F-AED7-1409263FB70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31924" y="4431496"/>
            <a:ext cx="6264275" cy="17338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lnSpc>
                <a:spcPts val="3200"/>
              </a:lnSpc>
              <a:spcBef>
                <a:spcPct val="0"/>
              </a:spcBef>
              <a:buFontTx/>
              <a:buNone/>
            </a:pPr>
            <a:r>
              <a:rPr lang="en-US" altLang="zh-CN" sz="2400" dirty="0" err="1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Chaolong</a:t>
            </a:r>
            <a:r>
              <a:rPr lang="en-US" altLang="zh-CN" sz="2400" dirty="0">
                <a:latin typeface="Calibri" panose="020F0502020204030204" pitchFamily="34" charset="0"/>
                <a:ea typeface="黑体" panose="02010609060101010101" pitchFamily="49" charset="-122"/>
                <a:cs typeface="Calibri" panose="020F0502020204030204" pitchFamily="34" charset="0"/>
              </a:rPr>
              <a:t> Ying</a:t>
            </a:r>
          </a:p>
          <a:p>
            <a:pPr algn="ctr" eaLnBrk="1" hangingPunct="1">
              <a:lnSpc>
                <a:spcPts val="3200"/>
              </a:lnSpc>
              <a:spcBef>
                <a:spcPct val="0"/>
              </a:spcBef>
              <a:buNone/>
            </a:pPr>
            <a:r>
              <a:rPr lang="en-US" altLang="zh-CN" sz="2400" dirty="0">
                <a:latin typeface="Calibri Light" panose="020F0302020204030204" pitchFamily="34" charset="0"/>
                <a:ea typeface="黑体" panose="02010609060101010101" pitchFamily="49" charset="-122"/>
                <a:cs typeface="Calibri Light" panose="020F0302020204030204" pitchFamily="34" charset="0"/>
              </a:rPr>
              <a:t>Advisor</a:t>
            </a:r>
            <a:r>
              <a:rPr lang="zh-CN" altLang="en-US" sz="2400" dirty="0">
                <a:latin typeface="Calibri Light" panose="020F0302020204030204" pitchFamily="34" charset="0"/>
                <a:ea typeface="黑体" panose="02010609060101010101" pitchFamily="49" charset="-122"/>
                <a:cs typeface="Calibri Light" panose="020F0302020204030204" pitchFamily="34" charset="0"/>
              </a:rPr>
              <a:t>：</a:t>
            </a:r>
            <a:r>
              <a:rPr lang="en-US" altLang="zh-CN" sz="2400" dirty="0">
                <a:latin typeface="Calibri Light" panose="020F0302020204030204" pitchFamily="34" charset="0"/>
                <a:ea typeface="黑体" panose="02010609060101010101" pitchFamily="49" charset="-122"/>
                <a:cs typeface="Calibri Light" panose="020F0302020204030204" pitchFamily="34" charset="0"/>
              </a:rPr>
              <a:t>Prof. Jing Liu</a:t>
            </a:r>
          </a:p>
          <a:p>
            <a:pPr algn="ctr" eaLnBrk="1" hangingPunct="1">
              <a:lnSpc>
                <a:spcPts val="32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Calibri Light" panose="020F0302020204030204" pitchFamily="34" charset="0"/>
                <a:ea typeface="黑体" panose="02010609060101010101" pitchFamily="49" charset="-122"/>
                <a:cs typeface="Calibri Light" panose="020F0302020204030204" pitchFamily="34" charset="0"/>
              </a:rPr>
              <a:t>GIT, </a:t>
            </a:r>
            <a:r>
              <a:rPr lang="en-US" altLang="zh-CN" sz="2000" dirty="0" err="1">
                <a:latin typeface="Calibri Light" panose="020F0302020204030204" pitchFamily="34" charset="0"/>
                <a:ea typeface="黑体" panose="02010609060101010101" pitchFamily="49" charset="-122"/>
                <a:cs typeface="Calibri Light" panose="020F0302020204030204" pitchFamily="34" charset="0"/>
              </a:rPr>
              <a:t>Xidian</a:t>
            </a:r>
            <a:r>
              <a:rPr lang="en-US" altLang="zh-CN" sz="2000" dirty="0">
                <a:latin typeface="Calibri Light" panose="020F0302020204030204" pitchFamily="34" charset="0"/>
                <a:ea typeface="黑体" panose="02010609060101010101" pitchFamily="49" charset="-122"/>
                <a:cs typeface="Calibri Light" panose="020F0302020204030204" pitchFamily="34" charset="0"/>
              </a:rPr>
              <a:t> University, Guangzhou</a:t>
            </a:r>
          </a:p>
          <a:p>
            <a:pPr algn="ctr" eaLnBrk="1" hangingPunct="1">
              <a:lnSpc>
                <a:spcPts val="3200"/>
              </a:lnSpc>
              <a:spcBef>
                <a:spcPct val="0"/>
              </a:spcBef>
              <a:buFontTx/>
              <a:buNone/>
            </a:pPr>
            <a:r>
              <a:rPr lang="en-US" altLang="zh-CN" sz="2000" dirty="0">
                <a:latin typeface="Calibri Light" panose="020F0302020204030204" pitchFamily="34" charset="0"/>
                <a:ea typeface="黑体" panose="02010609060101010101" pitchFamily="49" charset="-122"/>
                <a:cs typeface="Calibri Light" panose="020F0302020204030204" pitchFamily="34" charset="0"/>
              </a:rPr>
              <a:t>Oct.22</a:t>
            </a:r>
            <a:r>
              <a:rPr lang="en-US" altLang="zh-CN" sz="2000" baseline="30000" dirty="0">
                <a:latin typeface="Calibri Light" panose="020F0302020204030204" pitchFamily="34" charset="0"/>
                <a:ea typeface="黑体" panose="02010609060101010101" pitchFamily="49" charset="-122"/>
                <a:cs typeface="Calibri Light" panose="020F0302020204030204" pitchFamily="34" charset="0"/>
              </a:rPr>
              <a:t>th</a:t>
            </a:r>
            <a:r>
              <a:rPr lang="en-US" altLang="zh-CN" sz="2000" dirty="0">
                <a:latin typeface="Calibri Light" panose="020F0302020204030204" pitchFamily="34" charset="0"/>
                <a:ea typeface="黑体" panose="02010609060101010101" pitchFamily="49" charset="-122"/>
                <a:cs typeface="Calibri Light" panose="020F0302020204030204" pitchFamily="34" charset="0"/>
              </a:rPr>
              <a:t>, 2021 @ Jing Group</a:t>
            </a:r>
            <a:endParaRPr lang="zh-CN" altLang="en-US" sz="2000" dirty="0">
              <a:latin typeface="Calibri Light" panose="020F0302020204030204" pitchFamily="34" charset="0"/>
              <a:ea typeface="黑体" panose="02010609060101010101" pitchFamily="49" charset="-122"/>
              <a:cs typeface="Calibri Light" panose="020F0302020204030204" pitchFamily="34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矩形 74">
            <a:extLst>
              <a:ext uri="{FF2B5EF4-FFF2-40B4-BE49-F238E27FC236}">
                <a16:creationId xmlns:a16="http://schemas.microsoft.com/office/drawing/2014/main" id="{D5702E4C-3BE5-487B-8951-2EE4FC4ACA52}"/>
              </a:ext>
            </a:extLst>
          </p:cNvPr>
          <p:cNvSpPr/>
          <p:nvPr/>
        </p:nvSpPr>
        <p:spPr>
          <a:xfrm>
            <a:off x="261673" y="1487060"/>
            <a:ext cx="3600400" cy="4534225"/>
          </a:xfrm>
          <a:prstGeom prst="rect">
            <a:avLst/>
          </a:prstGeom>
          <a:solidFill>
            <a:srgbClr val="0099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: 圆角 75">
            <a:extLst>
              <a:ext uri="{FF2B5EF4-FFF2-40B4-BE49-F238E27FC236}">
                <a16:creationId xmlns:a16="http://schemas.microsoft.com/office/drawing/2014/main" id="{E046CEFC-0F0F-4BA6-9DC3-0A2E54609A00}"/>
              </a:ext>
            </a:extLst>
          </p:cNvPr>
          <p:cNvSpPr/>
          <p:nvPr/>
        </p:nvSpPr>
        <p:spPr>
          <a:xfrm>
            <a:off x="1475656" y="5254280"/>
            <a:ext cx="1251578" cy="43168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FF0000"/>
                </a:solidFill>
              </a:rPr>
              <a:t>Optimize</a:t>
            </a:r>
            <a:endParaRPr lang="zh-CN" altLang="en-US" b="1" dirty="0">
              <a:solidFill>
                <a:srgbClr val="FF0000"/>
              </a:solidFill>
            </a:endParaRPr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E190256A-AF5F-4650-A7F5-A4962DD54784}"/>
              </a:ext>
            </a:extLst>
          </p:cNvPr>
          <p:cNvSpPr/>
          <p:nvPr/>
        </p:nvSpPr>
        <p:spPr>
          <a:xfrm>
            <a:off x="5292080" y="1487060"/>
            <a:ext cx="3600400" cy="4534225"/>
          </a:xfrm>
          <a:prstGeom prst="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文本框 73">
            <a:extLst>
              <a:ext uri="{FF2B5EF4-FFF2-40B4-BE49-F238E27FC236}">
                <a16:creationId xmlns:a16="http://schemas.microsoft.com/office/drawing/2014/main" id="{7BCEDB21-F867-4298-B5EC-F331039AB5D7}"/>
              </a:ext>
            </a:extLst>
          </p:cNvPr>
          <p:cNvSpPr txBox="1"/>
          <p:nvPr/>
        </p:nvSpPr>
        <p:spPr>
          <a:xfrm>
            <a:off x="6724849" y="5316632"/>
            <a:ext cx="11622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Model</a:t>
            </a:r>
            <a:endParaRPr lang="zh-CN" altLang="en-US" b="1" dirty="0"/>
          </a:p>
        </p:txBody>
      </p:sp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+mn-lt"/>
              </a:rPr>
              <a:t>Background</a:t>
            </a:r>
            <a:endParaRPr lang="zh-CN" altLang="en-US" sz="2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CD35FD20-8695-4ED7-B678-85B41A973661}"/>
              </a:ext>
            </a:extLst>
          </p:cNvPr>
          <p:cNvSpPr/>
          <p:nvPr/>
        </p:nvSpPr>
        <p:spPr>
          <a:xfrm>
            <a:off x="1522206" y="2029202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椭圆 20">
            <a:extLst>
              <a:ext uri="{FF2B5EF4-FFF2-40B4-BE49-F238E27FC236}">
                <a16:creationId xmlns:a16="http://schemas.microsoft.com/office/drawing/2014/main" id="{9698A646-78E9-4DE2-ABFD-964AD060E54D}"/>
              </a:ext>
            </a:extLst>
          </p:cNvPr>
          <p:cNvSpPr/>
          <p:nvPr/>
        </p:nvSpPr>
        <p:spPr>
          <a:xfrm>
            <a:off x="3178390" y="181317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椭圆 21">
            <a:extLst>
              <a:ext uri="{FF2B5EF4-FFF2-40B4-BE49-F238E27FC236}">
                <a16:creationId xmlns:a16="http://schemas.microsoft.com/office/drawing/2014/main" id="{65B6DF73-2D67-4085-A6FC-F8DAB9F74910}"/>
              </a:ext>
            </a:extLst>
          </p:cNvPr>
          <p:cNvSpPr/>
          <p:nvPr/>
        </p:nvSpPr>
        <p:spPr>
          <a:xfrm>
            <a:off x="1027700" y="289329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椭圆 22">
            <a:extLst>
              <a:ext uri="{FF2B5EF4-FFF2-40B4-BE49-F238E27FC236}">
                <a16:creationId xmlns:a16="http://schemas.microsoft.com/office/drawing/2014/main" id="{ACDF4FD7-2EF2-4AA4-B791-2EFFEC4ED395}"/>
              </a:ext>
            </a:extLst>
          </p:cNvPr>
          <p:cNvSpPr/>
          <p:nvPr/>
        </p:nvSpPr>
        <p:spPr>
          <a:xfrm>
            <a:off x="2183400" y="246125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椭圆 24">
            <a:extLst>
              <a:ext uri="{FF2B5EF4-FFF2-40B4-BE49-F238E27FC236}">
                <a16:creationId xmlns:a16="http://schemas.microsoft.com/office/drawing/2014/main" id="{05F32E30-197B-47D1-AFB6-1FC88B3430C6}"/>
              </a:ext>
            </a:extLst>
          </p:cNvPr>
          <p:cNvSpPr/>
          <p:nvPr/>
        </p:nvSpPr>
        <p:spPr>
          <a:xfrm>
            <a:off x="2890358" y="3379369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6B63C003-2799-4F4E-94CF-2CA8534B51BA}"/>
              </a:ext>
            </a:extLst>
          </p:cNvPr>
          <p:cNvCxnSpPr>
            <a:cxnSpLocks/>
            <a:stCxn id="2" idx="3"/>
            <a:endCxn id="22" idx="7"/>
          </p:cNvCxnSpPr>
          <p:nvPr/>
        </p:nvCxnSpPr>
        <p:spPr>
          <a:xfrm flipH="1">
            <a:off x="1150625" y="2152127"/>
            <a:ext cx="392672" cy="7622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4A2F7D0B-1F79-4C3E-B210-07A8DB2F6593}"/>
              </a:ext>
            </a:extLst>
          </p:cNvPr>
          <p:cNvCxnSpPr>
            <a:stCxn id="23" idx="5"/>
            <a:endCxn id="25" idx="1"/>
          </p:cNvCxnSpPr>
          <p:nvPr/>
        </p:nvCxnSpPr>
        <p:spPr>
          <a:xfrm>
            <a:off x="2306325" y="2584175"/>
            <a:ext cx="605124" cy="81628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7BCA63E9-3880-4468-BBAB-6CE32902F32C}"/>
              </a:ext>
            </a:extLst>
          </p:cNvPr>
          <p:cNvCxnSpPr>
            <a:stCxn id="2" idx="7"/>
            <a:endCxn id="21" idx="2"/>
          </p:cNvCxnSpPr>
          <p:nvPr/>
        </p:nvCxnSpPr>
        <p:spPr>
          <a:xfrm flipV="1">
            <a:off x="1645131" y="1885186"/>
            <a:ext cx="1533259" cy="1651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D5ED0CC7-5AFA-43E1-9EC8-7CF48638DEDC}"/>
              </a:ext>
            </a:extLst>
          </p:cNvPr>
          <p:cNvCxnSpPr>
            <a:cxnSpLocks/>
            <a:stCxn id="22" idx="4"/>
            <a:endCxn id="25" idx="2"/>
          </p:cNvCxnSpPr>
          <p:nvPr/>
        </p:nvCxnSpPr>
        <p:spPr>
          <a:xfrm>
            <a:off x="1099708" y="3037314"/>
            <a:ext cx="1790650" cy="4140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连接符 16">
            <a:extLst>
              <a:ext uri="{FF2B5EF4-FFF2-40B4-BE49-F238E27FC236}">
                <a16:creationId xmlns:a16="http://schemas.microsoft.com/office/drawing/2014/main" id="{6AEF05E7-4A39-4A13-A52E-09A362E83E66}"/>
              </a:ext>
            </a:extLst>
          </p:cNvPr>
          <p:cNvCxnSpPr>
            <a:stCxn id="23" idx="2"/>
            <a:endCxn id="22" idx="7"/>
          </p:cNvCxnSpPr>
          <p:nvPr/>
        </p:nvCxnSpPr>
        <p:spPr>
          <a:xfrm flipH="1">
            <a:off x="1150625" y="2533258"/>
            <a:ext cx="1032775" cy="38113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椭圆 41">
            <a:extLst>
              <a:ext uri="{FF2B5EF4-FFF2-40B4-BE49-F238E27FC236}">
                <a16:creationId xmlns:a16="http://schemas.microsoft.com/office/drawing/2014/main" id="{E9891FF3-8DFE-4668-82AB-D488FF3C6A62}"/>
              </a:ext>
            </a:extLst>
          </p:cNvPr>
          <p:cNvSpPr/>
          <p:nvPr/>
        </p:nvSpPr>
        <p:spPr>
          <a:xfrm>
            <a:off x="6346743" y="2101210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1" name="椭圆 50">
            <a:extLst>
              <a:ext uri="{FF2B5EF4-FFF2-40B4-BE49-F238E27FC236}">
                <a16:creationId xmlns:a16="http://schemas.microsoft.com/office/drawing/2014/main" id="{5AD4070B-79D2-46F2-A3A2-57AF0FCE649F}"/>
              </a:ext>
            </a:extLst>
          </p:cNvPr>
          <p:cNvSpPr/>
          <p:nvPr/>
        </p:nvSpPr>
        <p:spPr>
          <a:xfrm>
            <a:off x="8002927" y="188518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椭圆 51">
            <a:extLst>
              <a:ext uri="{FF2B5EF4-FFF2-40B4-BE49-F238E27FC236}">
                <a16:creationId xmlns:a16="http://schemas.microsoft.com/office/drawing/2014/main" id="{B47B745C-9F85-4965-B304-BEC282F2DFD8}"/>
              </a:ext>
            </a:extLst>
          </p:cNvPr>
          <p:cNvSpPr/>
          <p:nvPr/>
        </p:nvSpPr>
        <p:spPr>
          <a:xfrm>
            <a:off x="5852237" y="2965306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椭圆 52">
            <a:extLst>
              <a:ext uri="{FF2B5EF4-FFF2-40B4-BE49-F238E27FC236}">
                <a16:creationId xmlns:a16="http://schemas.microsoft.com/office/drawing/2014/main" id="{320D350A-3D37-437F-962A-5D9A6E359007}"/>
              </a:ext>
            </a:extLst>
          </p:cNvPr>
          <p:cNvSpPr/>
          <p:nvPr/>
        </p:nvSpPr>
        <p:spPr>
          <a:xfrm>
            <a:off x="7007937" y="2533258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椭圆 53">
            <a:extLst>
              <a:ext uri="{FF2B5EF4-FFF2-40B4-BE49-F238E27FC236}">
                <a16:creationId xmlns:a16="http://schemas.microsoft.com/office/drawing/2014/main" id="{3E5F4BB0-F650-420C-8173-7777A42FA549}"/>
              </a:ext>
            </a:extLst>
          </p:cNvPr>
          <p:cNvSpPr/>
          <p:nvPr/>
        </p:nvSpPr>
        <p:spPr>
          <a:xfrm>
            <a:off x="7714895" y="3451377"/>
            <a:ext cx="144016" cy="144016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EEB64538-6430-48ED-B643-C6E747A3A450}"/>
              </a:ext>
            </a:extLst>
          </p:cNvPr>
          <p:cNvSpPr txBox="1"/>
          <p:nvPr/>
        </p:nvSpPr>
        <p:spPr>
          <a:xfrm>
            <a:off x="2742853" y="980728"/>
            <a:ext cx="69286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What is </a:t>
            </a:r>
            <a:r>
              <a:rPr lang="en-US" altLang="zh-CN" b="1" dirty="0"/>
              <a:t>network reconstruction</a:t>
            </a:r>
            <a:r>
              <a:rPr lang="en-US" altLang="zh-CN" dirty="0"/>
              <a:t>?</a:t>
            </a:r>
            <a:endParaRPr lang="zh-CN" altLang="en-US" dirty="0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F42D15BB-29FA-4F2B-8457-7A4741F359A8}"/>
              </a:ext>
            </a:extLst>
          </p:cNvPr>
          <p:cNvSpPr/>
          <p:nvPr/>
        </p:nvSpPr>
        <p:spPr>
          <a:xfrm>
            <a:off x="827583" y="1741170"/>
            <a:ext cx="2664297" cy="1930128"/>
          </a:xfrm>
          <a:prstGeom prst="rect">
            <a:avLst/>
          </a:prstGeom>
          <a:solidFill>
            <a:srgbClr val="008E40">
              <a:alpha val="5000"/>
            </a:srgbClr>
          </a:solidFill>
          <a:ln>
            <a:solidFill>
              <a:srgbClr val="008E4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sz="1400" i="1" dirty="0">
              <a:solidFill>
                <a:schemeClr val="tx1"/>
              </a:solidFill>
            </a:endParaRPr>
          </a:p>
        </p:txBody>
      </p:sp>
      <p:sp>
        <p:nvSpPr>
          <p:cNvPr id="61" name="矩形 60">
            <a:extLst>
              <a:ext uri="{FF2B5EF4-FFF2-40B4-BE49-F238E27FC236}">
                <a16:creationId xmlns:a16="http://schemas.microsoft.com/office/drawing/2014/main" id="{808B1EB3-D18D-4D1E-B4EE-1FEBE5F3A3D2}"/>
              </a:ext>
            </a:extLst>
          </p:cNvPr>
          <p:cNvSpPr/>
          <p:nvPr/>
        </p:nvSpPr>
        <p:spPr>
          <a:xfrm>
            <a:off x="5601205" y="1741170"/>
            <a:ext cx="2787219" cy="1951949"/>
          </a:xfrm>
          <a:prstGeom prst="rect">
            <a:avLst/>
          </a:prstGeom>
          <a:solidFill>
            <a:srgbClr val="00B0F0">
              <a:alpha val="3922"/>
            </a:srgbClr>
          </a:solidFill>
          <a:ln>
            <a:solidFill>
              <a:srgbClr val="00B0F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altLang="zh-CN" sz="1400" b="1" dirty="0">
              <a:solidFill>
                <a:srgbClr val="FF0000"/>
              </a:solidFill>
            </a:endParaRPr>
          </a:p>
        </p:txBody>
      </p:sp>
      <p:cxnSp>
        <p:nvCxnSpPr>
          <p:cNvPr id="27" name="直接箭头连接符 26">
            <a:extLst>
              <a:ext uri="{FF2B5EF4-FFF2-40B4-BE49-F238E27FC236}">
                <a16:creationId xmlns:a16="http://schemas.microsoft.com/office/drawing/2014/main" id="{F405C54D-AAA6-4B75-8104-7B119EB974F5}"/>
              </a:ext>
            </a:extLst>
          </p:cNvPr>
          <p:cNvCxnSpPr>
            <a:cxnSpLocks/>
          </p:cNvCxnSpPr>
          <p:nvPr/>
        </p:nvCxnSpPr>
        <p:spPr>
          <a:xfrm>
            <a:off x="3491880" y="2708920"/>
            <a:ext cx="210932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文本框 30">
            <a:extLst>
              <a:ext uri="{FF2B5EF4-FFF2-40B4-BE49-F238E27FC236}">
                <a16:creationId xmlns:a16="http://schemas.microsoft.com/office/drawing/2014/main" id="{784A9DF6-21DE-4260-ACF0-2800267EDA7E}"/>
              </a:ext>
            </a:extLst>
          </p:cNvPr>
          <p:cNvSpPr txBox="1"/>
          <p:nvPr/>
        </p:nvSpPr>
        <p:spPr>
          <a:xfrm>
            <a:off x="3419872" y="2204864"/>
            <a:ext cx="2219125" cy="872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altLang="zh-CN" dirty="0"/>
              <a:t>Missing or unobservable links</a:t>
            </a:r>
            <a:endParaRPr lang="zh-CN" altLang="en-US" dirty="0"/>
          </a:p>
        </p:txBody>
      </p:sp>
      <p:sp>
        <p:nvSpPr>
          <p:cNvPr id="36" name="椭圆 35">
            <a:extLst>
              <a:ext uri="{FF2B5EF4-FFF2-40B4-BE49-F238E27FC236}">
                <a16:creationId xmlns:a16="http://schemas.microsoft.com/office/drawing/2014/main" id="{7DF6F8E7-2ECC-49F1-A026-C1A0726A3137}"/>
              </a:ext>
            </a:extLst>
          </p:cNvPr>
          <p:cNvSpPr/>
          <p:nvPr/>
        </p:nvSpPr>
        <p:spPr>
          <a:xfrm>
            <a:off x="3491880" y="4293096"/>
            <a:ext cx="2109324" cy="12905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Available node states or attributes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66" name="直接箭头连接符 65">
            <a:extLst>
              <a:ext uri="{FF2B5EF4-FFF2-40B4-BE49-F238E27FC236}">
                <a16:creationId xmlns:a16="http://schemas.microsoft.com/office/drawing/2014/main" id="{6CE65D09-9945-49A8-922D-EBCF49B3269C}"/>
              </a:ext>
            </a:extLst>
          </p:cNvPr>
          <p:cNvCxnSpPr>
            <a:stCxn id="61" idx="2"/>
            <a:endCxn id="36" idx="6"/>
          </p:cNvCxnSpPr>
          <p:nvPr/>
        </p:nvCxnSpPr>
        <p:spPr>
          <a:xfrm flipH="1">
            <a:off x="5601204" y="3693119"/>
            <a:ext cx="1393611" cy="124522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直接箭头连接符 67">
            <a:extLst>
              <a:ext uri="{FF2B5EF4-FFF2-40B4-BE49-F238E27FC236}">
                <a16:creationId xmlns:a16="http://schemas.microsoft.com/office/drawing/2014/main" id="{7904DA75-1E64-472E-BB48-5DE047C0BFAB}"/>
              </a:ext>
            </a:extLst>
          </p:cNvPr>
          <p:cNvCxnSpPr>
            <a:stCxn id="36" idx="2"/>
            <a:endCxn id="60" idx="2"/>
          </p:cNvCxnSpPr>
          <p:nvPr/>
        </p:nvCxnSpPr>
        <p:spPr>
          <a:xfrm flipH="1" flipV="1">
            <a:off x="2159732" y="3671298"/>
            <a:ext cx="1332148" cy="126704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文本框 68">
            <a:extLst>
              <a:ext uri="{FF2B5EF4-FFF2-40B4-BE49-F238E27FC236}">
                <a16:creationId xmlns:a16="http://schemas.microsoft.com/office/drawing/2014/main" id="{9EF12D54-BADD-4DCD-8B8D-AE450B7AA8BC}"/>
              </a:ext>
            </a:extLst>
          </p:cNvPr>
          <p:cNvSpPr txBox="1"/>
          <p:nvPr/>
        </p:nvSpPr>
        <p:spPr>
          <a:xfrm>
            <a:off x="6340286" y="4256071"/>
            <a:ext cx="23042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Observe and record</a:t>
            </a:r>
            <a:endParaRPr lang="zh-CN" altLang="en-US" dirty="0"/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2B8713A3-2CA2-4CF0-B379-DA9362D4732E}"/>
              </a:ext>
            </a:extLst>
          </p:cNvPr>
          <p:cNvSpPr txBox="1"/>
          <p:nvPr/>
        </p:nvSpPr>
        <p:spPr>
          <a:xfrm>
            <a:off x="1348896" y="4231976"/>
            <a:ext cx="16693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Reconstruct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" grpId="0" animBg="1"/>
      <p:bldP spid="76" grpId="0" animBg="1"/>
      <p:bldP spid="73" grpId="0" animBg="1"/>
      <p:bldP spid="74" grpId="0"/>
      <p:bldP spid="42" grpId="0" animBg="1"/>
      <p:bldP spid="51" grpId="0" animBg="1"/>
      <p:bldP spid="52" grpId="0" animBg="1"/>
      <p:bldP spid="53" grpId="0" animBg="1"/>
      <p:bldP spid="54" grpId="0" animBg="1"/>
      <p:bldP spid="61" grpId="0" animBg="1"/>
      <p:bldP spid="31" grpId="0"/>
      <p:bldP spid="36" grpId="0" animBg="1"/>
      <p:bldP spid="69" grpId="0"/>
      <p:bldP spid="70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Arial"/>
              </a:rPr>
              <a:t>Background</a:t>
            </a:r>
            <a:endParaRPr lang="zh-CN" altLang="en-US" sz="2400" dirty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grpSp>
        <p:nvGrpSpPr>
          <p:cNvPr id="5" name="组合 4"/>
          <p:cNvGrpSpPr/>
          <p:nvPr/>
        </p:nvGrpSpPr>
        <p:grpSpPr>
          <a:xfrm>
            <a:off x="274119" y="3501008"/>
            <a:ext cx="8727006" cy="288032"/>
            <a:chOff x="971600" y="3789040"/>
            <a:chExt cx="7141914" cy="288032"/>
          </a:xfrm>
        </p:grpSpPr>
        <p:sp>
          <p:nvSpPr>
            <p:cNvPr id="3" name="燕尾形 2"/>
            <p:cNvSpPr/>
            <p:nvPr/>
          </p:nvSpPr>
          <p:spPr>
            <a:xfrm>
              <a:off x="971600" y="3789040"/>
              <a:ext cx="5184576" cy="288032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燕尾形 29"/>
            <p:cNvSpPr/>
            <p:nvPr/>
          </p:nvSpPr>
          <p:spPr>
            <a:xfrm>
              <a:off x="1403648" y="3789040"/>
              <a:ext cx="5184576" cy="288032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3" name="燕尾形 32"/>
            <p:cNvSpPr/>
            <p:nvPr/>
          </p:nvSpPr>
          <p:spPr>
            <a:xfrm>
              <a:off x="1835696" y="3789040"/>
              <a:ext cx="5184576" cy="288032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4" name="燕尾形 33"/>
            <p:cNvSpPr/>
            <p:nvPr/>
          </p:nvSpPr>
          <p:spPr>
            <a:xfrm>
              <a:off x="2267744" y="3789040"/>
              <a:ext cx="5184576" cy="288032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6" name="燕尾形 35"/>
            <p:cNvSpPr/>
            <p:nvPr/>
          </p:nvSpPr>
          <p:spPr>
            <a:xfrm>
              <a:off x="2699792" y="3789040"/>
              <a:ext cx="5184576" cy="288032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燕尾形 37"/>
            <p:cNvSpPr/>
            <p:nvPr/>
          </p:nvSpPr>
          <p:spPr>
            <a:xfrm>
              <a:off x="2928938" y="3789040"/>
              <a:ext cx="5184576" cy="288032"/>
            </a:xfrm>
            <a:prstGeom prst="chevron">
              <a:avLst/>
            </a:prstGeom>
            <a:solidFill>
              <a:srgbClr val="0070C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cxnSp>
        <p:nvCxnSpPr>
          <p:cNvPr id="7" name="直接箭头连接符 6"/>
          <p:cNvCxnSpPr>
            <a:cxnSpLocks/>
          </p:cNvCxnSpPr>
          <p:nvPr/>
        </p:nvCxnSpPr>
        <p:spPr>
          <a:xfrm flipV="1">
            <a:off x="861874" y="2981621"/>
            <a:ext cx="0" cy="519387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280787" y="3193231"/>
            <a:ext cx="568874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solidFill>
                  <a:srgbClr val="C00000"/>
                </a:solidFill>
              </a:rPr>
              <a:t>2011</a:t>
            </a:r>
          </a:p>
        </p:txBody>
      </p:sp>
      <p:cxnSp>
        <p:nvCxnSpPr>
          <p:cNvPr id="41" name="直接箭头连接符 40"/>
          <p:cNvCxnSpPr/>
          <p:nvPr/>
        </p:nvCxnSpPr>
        <p:spPr>
          <a:xfrm>
            <a:off x="1451826" y="3789040"/>
            <a:ext cx="0" cy="48431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>
            <a:cxnSpLocks/>
          </p:cNvCxnSpPr>
          <p:nvPr/>
        </p:nvCxnSpPr>
        <p:spPr>
          <a:xfrm>
            <a:off x="3073285" y="3778229"/>
            <a:ext cx="0" cy="49008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>
            <a:cxnSpLocks/>
          </p:cNvCxnSpPr>
          <p:nvPr/>
        </p:nvCxnSpPr>
        <p:spPr>
          <a:xfrm flipH="1" flipV="1">
            <a:off x="2648355" y="2981621"/>
            <a:ext cx="6297" cy="51938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9" name="直接箭头连接符 48"/>
          <p:cNvCxnSpPr>
            <a:cxnSpLocks/>
          </p:cNvCxnSpPr>
          <p:nvPr/>
        </p:nvCxnSpPr>
        <p:spPr>
          <a:xfrm flipV="1">
            <a:off x="4067944" y="2981621"/>
            <a:ext cx="0" cy="519388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1372829" y="3187535"/>
            <a:ext cx="5822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solidFill>
                  <a:srgbClr val="C00000"/>
                </a:solidFill>
              </a:rPr>
              <a:t>2014</a:t>
            </a:r>
          </a:p>
        </p:txBody>
      </p:sp>
      <p:cxnSp>
        <p:nvCxnSpPr>
          <p:cNvPr id="57" name="直接箭头连接符 56"/>
          <p:cNvCxnSpPr>
            <a:cxnSpLocks/>
          </p:cNvCxnSpPr>
          <p:nvPr/>
        </p:nvCxnSpPr>
        <p:spPr>
          <a:xfrm flipV="1">
            <a:off x="5548220" y="2981621"/>
            <a:ext cx="5276" cy="519387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8" name="矩形 57"/>
          <p:cNvSpPr/>
          <p:nvPr/>
        </p:nvSpPr>
        <p:spPr>
          <a:xfrm>
            <a:off x="4645844" y="3187535"/>
            <a:ext cx="5822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solidFill>
                  <a:srgbClr val="C00000"/>
                </a:solidFill>
              </a:rPr>
              <a:t>2020</a:t>
            </a:r>
          </a:p>
        </p:txBody>
      </p:sp>
      <p:cxnSp>
        <p:nvCxnSpPr>
          <p:cNvPr id="60" name="直接箭头连接符 59"/>
          <p:cNvCxnSpPr>
            <a:cxnSpLocks/>
          </p:cNvCxnSpPr>
          <p:nvPr/>
        </p:nvCxnSpPr>
        <p:spPr>
          <a:xfrm flipV="1">
            <a:off x="7250064" y="2981621"/>
            <a:ext cx="1" cy="529950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4" name="直接箭头连接符 63"/>
          <p:cNvCxnSpPr>
            <a:cxnSpLocks/>
          </p:cNvCxnSpPr>
          <p:nvPr/>
        </p:nvCxnSpPr>
        <p:spPr>
          <a:xfrm>
            <a:off x="5166843" y="3789040"/>
            <a:ext cx="0" cy="462579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>
            <a:cxnSpLocks/>
          </p:cNvCxnSpPr>
          <p:nvPr/>
        </p:nvCxnSpPr>
        <p:spPr>
          <a:xfrm>
            <a:off x="6468156" y="3792898"/>
            <a:ext cx="0" cy="458721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7" name="矩形 66"/>
          <p:cNvSpPr/>
          <p:nvPr/>
        </p:nvSpPr>
        <p:spPr>
          <a:xfrm>
            <a:off x="-54565" y="2261587"/>
            <a:ext cx="1890261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/>
              <a:t>Physical Review X</a:t>
            </a:r>
          </a:p>
          <a:p>
            <a:pPr algn="ctr"/>
            <a:r>
              <a:rPr lang="en-US" altLang="zh-CN" sz="1200" dirty="0"/>
              <a:t>(evolutionary game data,</a:t>
            </a:r>
          </a:p>
          <a:p>
            <a:pPr algn="ctr"/>
            <a:r>
              <a:rPr lang="en-US" altLang="zh-CN" sz="1200" dirty="0"/>
              <a:t>compressive sensing)</a:t>
            </a:r>
          </a:p>
        </p:txBody>
      </p:sp>
      <p:sp>
        <p:nvSpPr>
          <p:cNvPr id="68" name="矩形 67"/>
          <p:cNvSpPr/>
          <p:nvPr/>
        </p:nvSpPr>
        <p:spPr>
          <a:xfrm>
            <a:off x="539552" y="4343470"/>
            <a:ext cx="1829348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/>
              <a:t>Nature Communications</a:t>
            </a:r>
          </a:p>
          <a:p>
            <a:pPr algn="ctr"/>
            <a:r>
              <a:rPr lang="en-US" altLang="zh-CN" sz="1200" dirty="0"/>
              <a:t>(propagation network, </a:t>
            </a:r>
          </a:p>
          <a:p>
            <a:pPr algn="ctr"/>
            <a:r>
              <a:rPr lang="en-US" altLang="zh-CN" sz="1200" dirty="0"/>
              <a:t>compressive sensing)</a:t>
            </a:r>
          </a:p>
        </p:txBody>
      </p:sp>
      <p:sp>
        <p:nvSpPr>
          <p:cNvPr id="69" name="矩形 68"/>
          <p:cNvSpPr/>
          <p:nvPr/>
        </p:nvSpPr>
        <p:spPr>
          <a:xfrm>
            <a:off x="3212240" y="2432511"/>
            <a:ext cx="1813318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/>
              <a:t>Physical Review Letters</a:t>
            </a:r>
          </a:p>
          <a:p>
            <a:pPr algn="ctr"/>
            <a:r>
              <a:rPr lang="en-US" altLang="zh-CN" sz="1200" dirty="0"/>
              <a:t>(lasso)</a:t>
            </a:r>
          </a:p>
        </p:txBody>
      </p:sp>
      <p:sp>
        <p:nvSpPr>
          <p:cNvPr id="70" name="矩形 69"/>
          <p:cNvSpPr/>
          <p:nvPr/>
        </p:nvSpPr>
        <p:spPr>
          <a:xfrm>
            <a:off x="2414121" y="4327113"/>
            <a:ext cx="137890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/>
              <a:t>Scientific Reports</a:t>
            </a:r>
          </a:p>
          <a:p>
            <a:pPr algn="ctr"/>
            <a:r>
              <a:rPr lang="en-US" altLang="zh-CN" sz="1200" dirty="0"/>
              <a:t>(MOEA)</a:t>
            </a:r>
          </a:p>
        </p:txBody>
      </p:sp>
      <p:sp>
        <p:nvSpPr>
          <p:cNvPr id="71" name="矩形 70"/>
          <p:cNvSpPr/>
          <p:nvPr/>
        </p:nvSpPr>
        <p:spPr>
          <a:xfrm>
            <a:off x="2001383" y="2431699"/>
            <a:ext cx="129394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/>
              <a:t>Physics Reports</a:t>
            </a:r>
          </a:p>
          <a:p>
            <a:pPr algn="ctr"/>
            <a:r>
              <a:rPr lang="en-US" altLang="zh-CN" sz="1200" dirty="0"/>
              <a:t>(review)</a:t>
            </a:r>
          </a:p>
        </p:txBody>
      </p:sp>
      <p:sp>
        <p:nvSpPr>
          <p:cNvPr id="72" name="矩形 71"/>
          <p:cNvSpPr/>
          <p:nvPr/>
        </p:nvSpPr>
        <p:spPr>
          <a:xfrm>
            <a:off x="4687098" y="4319614"/>
            <a:ext cx="102944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/>
              <a:t>TEVC</a:t>
            </a:r>
          </a:p>
          <a:p>
            <a:pPr algn="ctr"/>
            <a:r>
              <a:rPr lang="en-US" altLang="zh-CN" sz="1200" dirty="0"/>
              <a:t>(community)</a:t>
            </a:r>
          </a:p>
        </p:txBody>
      </p:sp>
      <p:sp>
        <p:nvSpPr>
          <p:cNvPr id="73" name="矩形 72"/>
          <p:cNvSpPr/>
          <p:nvPr/>
        </p:nvSpPr>
        <p:spPr>
          <a:xfrm>
            <a:off x="3995936" y="4319976"/>
            <a:ext cx="51809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/>
              <a:t>KBS</a:t>
            </a:r>
          </a:p>
          <a:p>
            <a:pPr algn="ctr"/>
            <a:r>
              <a:rPr lang="en-US" altLang="zh-CN" sz="1200" dirty="0"/>
              <a:t>(MA)</a:t>
            </a:r>
          </a:p>
        </p:txBody>
      </p:sp>
      <p:sp>
        <p:nvSpPr>
          <p:cNvPr id="74" name="矩形 73"/>
          <p:cNvSpPr/>
          <p:nvPr/>
        </p:nvSpPr>
        <p:spPr>
          <a:xfrm>
            <a:off x="6012160" y="4327113"/>
            <a:ext cx="893193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/>
              <a:t>KBS</a:t>
            </a:r>
          </a:p>
          <a:p>
            <a:pPr algn="ctr"/>
            <a:r>
              <a:rPr lang="en-US" altLang="zh-CN" sz="1200" dirty="0"/>
              <a:t>(multitask)</a:t>
            </a:r>
          </a:p>
        </p:txBody>
      </p:sp>
      <p:sp>
        <p:nvSpPr>
          <p:cNvPr id="75" name="矩形 74"/>
          <p:cNvSpPr/>
          <p:nvPr/>
        </p:nvSpPr>
        <p:spPr>
          <a:xfrm>
            <a:off x="5174429" y="2437824"/>
            <a:ext cx="69442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/>
              <a:t>TCYB</a:t>
            </a:r>
          </a:p>
          <a:p>
            <a:pPr algn="ctr"/>
            <a:r>
              <a:rPr lang="en-US" altLang="zh-CN" sz="1200" dirty="0"/>
              <a:t>(online)</a:t>
            </a:r>
          </a:p>
        </p:txBody>
      </p:sp>
      <p:cxnSp>
        <p:nvCxnSpPr>
          <p:cNvPr id="77" name="直接箭头连接符 76"/>
          <p:cNvCxnSpPr>
            <a:cxnSpLocks/>
          </p:cNvCxnSpPr>
          <p:nvPr/>
        </p:nvCxnSpPr>
        <p:spPr>
          <a:xfrm>
            <a:off x="8011654" y="3784006"/>
            <a:ext cx="2855" cy="467613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2" name="矩形 81"/>
          <p:cNvSpPr/>
          <p:nvPr/>
        </p:nvSpPr>
        <p:spPr>
          <a:xfrm>
            <a:off x="6392999" y="2430806"/>
            <a:ext cx="163538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/>
              <a:t>TCYB</a:t>
            </a:r>
          </a:p>
          <a:p>
            <a:pPr algn="ctr"/>
            <a:r>
              <a:rPr lang="en-US" altLang="zh-CN" sz="1200" dirty="0"/>
              <a:t>(multitask, multilayer)</a:t>
            </a:r>
          </a:p>
        </p:txBody>
      </p:sp>
      <p:sp>
        <p:nvSpPr>
          <p:cNvPr id="86" name="矩形 85"/>
          <p:cNvSpPr/>
          <p:nvPr/>
        </p:nvSpPr>
        <p:spPr>
          <a:xfrm>
            <a:off x="7496579" y="4302998"/>
            <a:ext cx="103586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200" dirty="0"/>
              <a:t>TCYB</a:t>
            </a:r>
          </a:p>
          <a:p>
            <a:pPr algn="ctr"/>
            <a:r>
              <a:rPr lang="en-US" altLang="zh-CN" sz="1200" dirty="0"/>
              <a:t>(large-scale)</a:t>
            </a:r>
          </a:p>
        </p:txBody>
      </p:sp>
      <p:sp>
        <p:nvSpPr>
          <p:cNvPr id="88" name="矩形 87"/>
          <p:cNvSpPr/>
          <p:nvPr/>
        </p:nvSpPr>
        <p:spPr>
          <a:xfrm>
            <a:off x="6101894" y="3193231"/>
            <a:ext cx="5822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solidFill>
                  <a:srgbClr val="C00000"/>
                </a:solidFill>
              </a:rPr>
              <a:t>2021</a:t>
            </a:r>
          </a:p>
        </p:txBody>
      </p:sp>
      <p:sp>
        <p:nvSpPr>
          <p:cNvPr id="56" name="矩形 55">
            <a:extLst>
              <a:ext uri="{FF2B5EF4-FFF2-40B4-BE49-F238E27FC236}">
                <a16:creationId xmlns:a16="http://schemas.microsoft.com/office/drawing/2014/main" id="{E9EA8537-8638-46E4-99D3-B4EF80709045}"/>
              </a:ext>
            </a:extLst>
          </p:cNvPr>
          <p:cNvSpPr/>
          <p:nvPr/>
        </p:nvSpPr>
        <p:spPr>
          <a:xfrm>
            <a:off x="2123728" y="3177303"/>
            <a:ext cx="5822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solidFill>
                  <a:srgbClr val="C00000"/>
                </a:solidFill>
              </a:rPr>
              <a:t>2016</a:t>
            </a:r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AEE905CD-A80F-445D-801F-8EE359F1BF68}"/>
              </a:ext>
            </a:extLst>
          </p:cNvPr>
          <p:cNvSpPr/>
          <p:nvPr/>
        </p:nvSpPr>
        <p:spPr>
          <a:xfrm>
            <a:off x="3387628" y="3177302"/>
            <a:ext cx="5822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>
                <a:solidFill>
                  <a:srgbClr val="C00000"/>
                </a:solidFill>
              </a:rPr>
              <a:t>2018</a:t>
            </a:r>
          </a:p>
        </p:txBody>
      </p:sp>
      <p:cxnSp>
        <p:nvCxnSpPr>
          <p:cNvPr id="78" name="直接箭头连接符 77">
            <a:extLst>
              <a:ext uri="{FF2B5EF4-FFF2-40B4-BE49-F238E27FC236}">
                <a16:creationId xmlns:a16="http://schemas.microsoft.com/office/drawing/2014/main" id="{21A8E13A-A6F3-4446-BA2B-9661BC051146}"/>
              </a:ext>
            </a:extLst>
          </p:cNvPr>
          <p:cNvCxnSpPr>
            <a:cxnSpLocks/>
          </p:cNvCxnSpPr>
          <p:nvPr/>
        </p:nvCxnSpPr>
        <p:spPr>
          <a:xfrm>
            <a:off x="4249940" y="3778119"/>
            <a:ext cx="422" cy="473500"/>
          </a:xfrm>
          <a:prstGeom prst="straightConnector1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2" name="圆角矩形 3">
            <a:extLst>
              <a:ext uri="{FF2B5EF4-FFF2-40B4-BE49-F238E27FC236}">
                <a16:creationId xmlns:a16="http://schemas.microsoft.com/office/drawing/2014/main" id="{55F29614-C165-4F18-9BEC-5EDF7E8EADD5}"/>
              </a:ext>
            </a:extLst>
          </p:cNvPr>
          <p:cNvSpPr/>
          <p:nvPr/>
        </p:nvSpPr>
        <p:spPr>
          <a:xfrm>
            <a:off x="7496579" y="4251619"/>
            <a:ext cx="1035858" cy="617541"/>
          </a:xfrm>
          <a:prstGeom prst="roundRect">
            <a:avLst/>
          </a:prstGeom>
          <a:noFill/>
          <a:ln>
            <a:solidFill>
              <a:srgbClr val="C0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156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+mn-lt"/>
              </a:rPr>
              <a:t>Motivation</a:t>
            </a:r>
            <a:endParaRPr lang="zh-CN" altLang="en-US" sz="2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4EDEB051-2465-403B-8DD8-6B7AB10C8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4299" y="2192858"/>
            <a:ext cx="8869701" cy="3382133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7F5463F7-7D20-4704-B5CA-3B7B20D1A309}"/>
              </a:ext>
            </a:extLst>
          </p:cNvPr>
          <p:cNvSpPr txBox="1"/>
          <p:nvPr/>
        </p:nvSpPr>
        <p:spPr>
          <a:xfrm>
            <a:off x="971600" y="1052736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Previous works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D79EC11-4E39-45B1-BAF1-89E98CC714A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3479748"/>
              </p:ext>
            </p:extLst>
          </p:nvPr>
        </p:nvGraphicFramePr>
        <p:xfrm>
          <a:off x="1115616" y="1533292"/>
          <a:ext cx="1080120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57" name="Equation" r:id="rId5" imgW="571320" imgH="228600" progId="Equation.DSMT4">
                  <p:embed/>
                </p:oleObj>
              </mc:Choice>
              <mc:Fallback>
                <p:oleObj name="Equation" r:id="rId5" imgW="57132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1115616" y="1533292"/>
                        <a:ext cx="1080120" cy="4320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ACF3564-7F4D-41BE-8D77-BFBB429DB148}"/>
              </a:ext>
            </a:extLst>
          </p:cNvPr>
          <p:cNvCxnSpPr/>
          <p:nvPr/>
        </p:nvCxnSpPr>
        <p:spPr>
          <a:xfrm>
            <a:off x="2483768" y="1749316"/>
            <a:ext cx="25922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32ED8C4-732E-44E6-A5AC-685E8627C8C8}"/>
              </a:ext>
            </a:extLst>
          </p:cNvPr>
          <p:cNvSpPr txBox="1"/>
          <p:nvPr/>
        </p:nvSpPr>
        <p:spPr>
          <a:xfrm>
            <a:off x="5364088" y="1542584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existence/inexistence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968302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+mn-lt"/>
              </a:rPr>
              <a:t>Motivation</a:t>
            </a:r>
            <a:endParaRPr lang="zh-CN" altLang="en-US" sz="2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7F5463F7-7D20-4704-B5CA-3B7B20D1A309}"/>
              </a:ext>
            </a:extLst>
          </p:cNvPr>
          <p:cNvSpPr txBox="1"/>
          <p:nvPr/>
        </p:nvSpPr>
        <p:spPr>
          <a:xfrm>
            <a:off x="971600" y="1052736"/>
            <a:ext cx="73448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Previous works</a:t>
            </a:r>
            <a:endParaRPr lang="zh-CN" altLang="en-US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AD79EC11-4E39-45B1-BAF1-89E98CC714A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115616" y="1533292"/>
          <a:ext cx="1080120" cy="43204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6" name="Equation" r:id="rId4" imgW="571320" imgH="228600" progId="Equation.DSMT4">
                  <p:embed/>
                </p:oleObj>
              </mc:Choice>
              <mc:Fallback>
                <p:oleObj name="Equation" r:id="rId4" imgW="571320" imgH="228600" progId="Equation.DSMT4">
                  <p:embed/>
                  <p:pic>
                    <p:nvPicPr>
                      <p:cNvPr id="5" name="对象 4">
                        <a:extLst>
                          <a:ext uri="{FF2B5EF4-FFF2-40B4-BE49-F238E27FC236}">
                            <a16:creationId xmlns:a16="http://schemas.microsoft.com/office/drawing/2014/main" id="{AD79EC11-4E39-45B1-BAF1-89E98CC714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115616" y="1533292"/>
                        <a:ext cx="1080120" cy="43204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8ACF3564-7F4D-41BE-8D77-BFBB429DB148}"/>
              </a:ext>
            </a:extLst>
          </p:cNvPr>
          <p:cNvCxnSpPr/>
          <p:nvPr/>
        </p:nvCxnSpPr>
        <p:spPr>
          <a:xfrm>
            <a:off x="2483768" y="1749316"/>
            <a:ext cx="259228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本框 7">
            <a:extLst>
              <a:ext uri="{FF2B5EF4-FFF2-40B4-BE49-F238E27FC236}">
                <a16:creationId xmlns:a16="http://schemas.microsoft.com/office/drawing/2014/main" id="{032ED8C4-732E-44E6-A5AC-685E8627C8C8}"/>
              </a:ext>
            </a:extLst>
          </p:cNvPr>
          <p:cNvSpPr txBox="1"/>
          <p:nvPr/>
        </p:nvSpPr>
        <p:spPr>
          <a:xfrm>
            <a:off x="5364088" y="1542584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existence/inexistence</a:t>
            </a:r>
            <a:endParaRPr lang="zh-CN" altLang="en-US" dirty="0"/>
          </a:p>
        </p:txBody>
      </p:sp>
      <p:graphicFrame>
        <p:nvGraphicFramePr>
          <p:cNvPr id="12" name="对象 11">
            <a:extLst>
              <a:ext uri="{FF2B5EF4-FFF2-40B4-BE49-F238E27FC236}">
                <a16:creationId xmlns:a16="http://schemas.microsoft.com/office/drawing/2014/main" id="{5B7116C8-0FB4-46FE-A7F0-C3B69ED224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747643"/>
              </p:ext>
            </p:extLst>
          </p:nvPr>
        </p:nvGraphicFramePr>
        <p:xfrm>
          <a:off x="2055444" y="2272012"/>
          <a:ext cx="5324868" cy="5082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7" name="Equation" r:id="rId6" imgW="2527200" imgH="241200" progId="Equation.DSMT4">
                  <p:embed/>
                </p:oleObj>
              </mc:Choice>
              <mc:Fallback>
                <p:oleObj name="Equation" r:id="rId6" imgW="2527200" imgH="241200" progId="Equation.DSMT4">
                  <p:embed/>
                  <p:pic>
                    <p:nvPicPr>
                      <p:cNvPr id="12" name="对象 11">
                        <a:extLst>
                          <a:ext uri="{FF2B5EF4-FFF2-40B4-BE49-F238E27FC236}">
                            <a16:creationId xmlns:a16="http://schemas.microsoft.com/office/drawing/2014/main" id="{5B7116C8-0FB4-46FE-A7F0-C3B69ED224D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2055444" y="2272012"/>
                        <a:ext cx="5324868" cy="5082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7CFC4440-A237-43FA-B410-59558646CE4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3436842"/>
              </p:ext>
            </p:extLst>
          </p:nvPr>
        </p:nvGraphicFramePr>
        <p:xfrm>
          <a:off x="2079455" y="5376223"/>
          <a:ext cx="2780577" cy="51292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8" name="Equation" r:id="rId8" imgW="1307880" imgH="241200" progId="Equation.DSMT4">
                  <p:embed/>
                </p:oleObj>
              </mc:Choice>
              <mc:Fallback>
                <p:oleObj name="Equation" r:id="rId8" imgW="1307880" imgH="241200" progId="Equation.DSMT4">
                  <p:embed/>
                  <p:pic>
                    <p:nvPicPr>
                      <p:cNvPr id="13" name="对象 12">
                        <a:extLst>
                          <a:ext uri="{FF2B5EF4-FFF2-40B4-BE49-F238E27FC236}">
                            <a16:creationId xmlns:a16="http://schemas.microsoft.com/office/drawing/2014/main" id="{7CFC4440-A237-43FA-B410-59558646CE4B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2079455" y="5376223"/>
                        <a:ext cx="2780577" cy="51292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5" name="文本框 14">
            <a:extLst>
              <a:ext uri="{FF2B5EF4-FFF2-40B4-BE49-F238E27FC236}">
                <a16:creationId xmlns:a16="http://schemas.microsoft.com/office/drawing/2014/main" id="{4CE56AAB-11E7-477F-AF7C-85816D7F202C}"/>
              </a:ext>
            </a:extLst>
          </p:cNvPr>
          <p:cNvSpPr txBox="1"/>
          <p:nvPr/>
        </p:nvSpPr>
        <p:spPr>
          <a:xfrm>
            <a:off x="325041" y="3131946"/>
            <a:ext cx="885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Cut-off = 0.3</a:t>
            </a:r>
            <a:endParaRPr lang="zh-CN" altLang="en-US" dirty="0"/>
          </a:p>
        </p:txBody>
      </p:sp>
      <p:graphicFrame>
        <p:nvGraphicFramePr>
          <p:cNvPr id="2" name="对象 1">
            <a:extLst>
              <a:ext uri="{FF2B5EF4-FFF2-40B4-BE49-F238E27FC236}">
                <a16:creationId xmlns:a16="http://schemas.microsoft.com/office/drawing/2014/main" id="{0B3D2926-2F54-4B10-8998-B17717E58F7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61165824"/>
              </p:ext>
            </p:extLst>
          </p:nvPr>
        </p:nvGraphicFramePr>
        <p:xfrm>
          <a:off x="2055444" y="3115351"/>
          <a:ext cx="3130475" cy="46187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39" name="Equation" r:id="rId10" imgW="1549080" imgH="228600" progId="Equation.DSMT4">
                  <p:embed/>
                </p:oleObj>
              </mc:Choice>
              <mc:Fallback>
                <p:oleObj name="Equation" r:id="rId10" imgW="154908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055444" y="3115351"/>
                        <a:ext cx="3130475" cy="461873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" name="对象 5">
            <a:extLst>
              <a:ext uri="{FF2B5EF4-FFF2-40B4-BE49-F238E27FC236}">
                <a16:creationId xmlns:a16="http://schemas.microsoft.com/office/drawing/2014/main" id="{DD1B15F5-23AA-4927-938A-D83DE8018B1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283537"/>
              </p:ext>
            </p:extLst>
          </p:nvPr>
        </p:nvGraphicFramePr>
        <p:xfrm>
          <a:off x="2079455" y="3861048"/>
          <a:ext cx="3181786" cy="461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0" name="Equation" r:id="rId12" imgW="1574640" imgH="228600" progId="Equation.DSMT4">
                  <p:embed/>
                </p:oleObj>
              </mc:Choice>
              <mc:Fallback>
                <p:oleObj name="Equation" r:id="rId12" imgW="157464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2079455" y="3861048"/>
                        <a:ext cx="3181786" cy="4618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D92A4799-98CD-49C4-8B72-C955506055A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1675671"/>
              </p:ext>
            </p:extLst>
          </p:nvPr>
        </p:nvGraphicFramePr>
        <p:xfrm>
          <a:off x="2095454" y="4592040"/>
          <a:ext cx="3284421" cy="46187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241" name="Equation" r:id="rId14" imgW="1625400" imgH="228600" progId="Equation.DSMT4">
                  <p:embed/>
                </p:oleObj>
              </mc:Choice>
              <mc:Fallback>
                <p:oleObj name="Equation" r:id="rId14" imgW="162540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2095454" y="4592040"/>
                        <a:ext cx="3284421" cy="46187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3D1092D5-15AF-4C82-8D03-CA73F9F64AEA}"/>
              </a:ext>
            </a:extLst>
          </p:cNvPr>
          <p:cNvSpPr txBox="1"/>
          <p:nvPr/>
        </p:nvSpPr>
        <p:spPr>
          <a:xfrm>
            <a:off x="325041" y="3912341"/>
            <a:ext cx="885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Cut-off = 0.5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32151B5-4911-4048-A815-2554A0789AAD}"/>
              </a:ext>
            </a:extLst>
          </p:cNvPr>
          <p:cNvSpPr txBox="1"/>
          <p:nvPr/>
        </p:nvSpPr>
        <p:spPr>
          <a:xfrm>
            <a:off x="325041" y="4645738"/>
            <a:ext cx="88582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Cut-off = 0.7</a:t>
            </a:r>
            <a:endParaRPr lang="zh-CN" altLang="en-US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E186D486-47EE-4756-B17B-33B352A82480}"/>
              </a:ext>
            </a:extLst>
          </p:cNvPr>
          <p:cNvSpPr/>
          <p:nvPr/>
        </p:nvSpPr>
        <p:spPr>
          <a:xfrm>
            <a:off x="6029591" y="3741613"/>
            <a:ext cx="2448272" cy="108012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b="1" dirty="0">
                <a:solidFill>
                  <a:schemeClr val="tx1"/>
                </a:solidFill>
              </a:rPr>
              <a:t>Why not use binary coding directly?</a:t>
            </a:r>
            <a:endParaRPr lang="zh-CN" altLang="en-US" sz="24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766533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Arial"/>
              </a:rPr>
              <a:t>Motivation</a:t>
            </a:r>
            <a:endParaRPr lang="zh-CN" altLang="en-US" sz="2400" dirty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sp>
        <p:nvSpPr>
          <p:cNvPr id="2" name="矩形: 圆角 1">
            <a:extLst>
              <a:ext uri="{FF2B5EF4-FFF2-40B4-BE49-F238E27FC236}">
                <a16:creationId xmlns:a16="http://schemas.microsoft.com/office/drawing/2014/main" id="{4412B726-CFA9-4B5F-BA38-85843E91692A}"/>
              </a:ext>
            </a:extLst>
          </p:cNvPr>
          <p:cNvSpPr/>
          <p:nvPr/>
        </p:nvSpPr>
        <p:spPr>
          <a:xfrm>
            <a:off x="2411760" y="1340768"/>
            <a:ext cx="4320480" cy="64807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Large-scale problems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2" name="矩形: 圆角 41">
            <a:extLst>
              <a:ext uri="{FF2B5EF4-FFF2-40B4-BE49-F238E27FC236}">
                <a16:creationId xmlns:a16="http://schemas.microsoft.com/office/drawing/2014/main" id="{8EC7CAB5-1CF3-4FE5-A244-E126FEDE51E1}"/>
              </a:ext>
            </a:extLst>
          </p:cNvPr>
          <p:cNvSpPr/>
          <p:nvPr/>
        </p:nvSpPr>
        <p:spPr>
          <a:xfrm>
            <a:off x="2411760" y="2510073"/>
            <a:ext cx="4320480" cy="648072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Curse of dimensionality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9895FC03-336B-49C8-999C-7B594D1AE717}"/>
              </a:ext>
            </a:extLst>
          </p:cNvPr>
          <p:cNvSpPr/>
          <p:nvPr/>
        </p:nvSpPr>
        <p:spPr>
          <a:xfrm>
            <a:off x="1522784" y="3861048"/>
            <a:ext cx="1825080" cy="1008113"/>
          </a:xfrm>
          <a:prstGeom prst="roundRect">
            <a:avLst/>
          </a:prstGeom>
          <a:solidFill>
            <a:srgbClr val="FFFFCC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Decomposition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44" name="矩形: 圆角 43">
            <a:extLst>
              <a:ext uri="{FF2B5EF4-FFF2-40B4-BE49-F238E27FC236}">
                <a16:creationId xmlns:a16="http://schemas.microsoft.com/office/drawing/2014/main" id="{32D3B7C8-F105-4FB0-98BB-815124EAF6DD}"/>
              </a:ext>
            </a:extLst>
          </p:cNvPr>
          <p:cNvSpPr/>
          <p:nvPr/>
        </p:nvSpPr>
        <p:spPr>
          <a:xfrm>
            <a:off x="5868144" y="3864471"/>
            <a:ext cx="1753070" cy="1008113"/>
          </a:xfrm>
          <a:prstGeom prst="roundRect">
            <a:avLst/>
          </a:prstGeom>
          <a:solidFill>
            <a:srgbClr val="FF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b="1" dirty="0">
                <a:solidFill>
                  <a:srgbClr val="C00000"/>
                </a:solidFill>
              </a:rPr>
              <a:t>Dimension reduction</a:t>
            </a:r>
            <a:endParaRPr lang="zh-CN" altLang="en-US" b="1" dirty="0">
              <a:solidFill>
                <a:srgbClr val="C00000"/>
              </a:solidFill>
            </a:endParaRPr>
          </a:p>
        </p:txBody>
      </p:sp>
      <p:sp>
        <p:nvSpPr>
          <p:cNvPr id="4" name="箭头: 右 3">
            <a:extLst>
              <a:ext uri="{FF2B5EF4-FFF2-40B4-BE49-F238E27FC236}">
                <a16:creationId xmlns:a16="http://schemas.microsoft.com/office/drawing/2014/main" id="{851BD2E0-9588-410B-9646-42CA57E422CA}"/>
              </a:ext>
            </a:extLst>
          </p:cNvPr>
          <p:cNvSpPr/>
          <p:nvPr/>
        </p:nvSpPr>
        <p:spPr>
          <a:xfrm rot="5400000">
            <a:off x="4427984" y="2060848"/>
            <a:ext cx="288032" cy="2880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下 4">
            <a:extLst>
              <a:ext uri="{FF2B5EF4-FFF2-40B4-BE49-F238E27FC236}">
                <a16:creationId xmlns:a16="http://schemas.microsoft.com/office/drawing/2014/main" id="{5718CAB3-296A-4C9F-A75F-D1A2A967F6F5}"/>
              </a:ext>
            </a:extLst>
          </p:cNvPr>
          <p:cNvSpPr/>
          <p:nvPr/>
        </p:nvSpPr>
        <p:spPr>
          <a:xfrm rot="2713300">
            <a:off x="3597060" y="3161448"/>
            <a:ext cx="216024" cy="7920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箭头: 下 46">
            <a:extLst>
              <a:ext uri="{FF2B5EF4-FFF2-40B4-BE49-F238E27FC236}">
                <a16:creationId xmlns:a16="http://schemas.microsoft.com/office/drawing/2014/main" id="{41B2DAEC-101A-4120-815C-A4DDD903ED57}"/>
              </a:ext>
            </a:extLst>
          </p:cNvPr>
          <p:cNvSpPr/>
          <p:nvPr/>
        </p:nvSpPr>
        <p:spPr>
          <a:xfrm rot="18988936">
            <a:off x="5391086" y="3150139"/>
            <a:ext cx="216024" cy="79208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999187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Arial"/>
              </a:rPr>
              <a:t>Motivation</a:t>
            </a:r>
            <a:endParaRPr lang="zh-CN" altLang="en-US" sz="2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CBAC9BD-76CA-4440-9274-7E56D9E7B3DC}"/>
              </a:ext>
            </a:extLst>
          </p:cNvPr>
          <p:cNvSpPr txBox="1"/>
          <p:nvPr/>
        </p:nvSpPr>
        <p:spPr>
          <a:xfrm>
            <a:off x="142875" y="908720"/>
            <a:ext cx="500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Preference-based local search operator</a:t>
            </a:r>
            <a:endParaRPr lang="zh-CN" altLang="en-US" b="1" dirty="0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6D6B178C-D0E4-4EB2-BDBC-D21055390BB2}"/>
              </a:ext>
            </a:extLst>
          </p:cNvPr>
          <p:cNvSpPr/>
          <p:nvPr/>
        </p:nvSpPr>
        <p:spPr>
          <a:xfrm>
            <a:off x="1691680" y="2516561"/>
            <a:ext cx="1152128" cy="4001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MOEA</a:t>
            </a:r>
            <a:endParaRPr lang="zh-CN" altLang="en-US" dirty="0"/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9EB5641F-A7BD-4B33-9919-47ADE446B41B}"/>
              </a:ext>
            </a:extLst>
          </p:cNvPr>
          <p:cNvSpPr/>
          <p:nvPr/>
        </p:nvSpPr>
        <p:spPr>
          <a:xfrm>
            <a:off x="827584" y="3335579"/>
            <a:ext cx="2880320" cy="4001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Non-dominated solutions</a:t>
            </a:r>
            <a:endParaRPr lang="zh-CN" altLang="en-US" dirty="0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53962F91-FE0B-4C43-AA02-D41E087A3584}"/>
              </a:ext>
            </a:extLst>
          </p:cNvPr>
          <p:cNvSpPr/>
          <p:nvPr/>
        </p:nvSpPr>
        <p:spPr>
          <a:xfrm>
            <a:off x="1115616" y="1533710"/>
            <a:ext cx="2304256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Network reconstruction</a:t>
            </a:r>
            <a:endParaRPr lang="zh-CN" altLang="en-US" dirty="0"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9176012-049A-4554-A887-1FFB08BF08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27240" y="1821742"/>
            <a:ext cx="3829050" cy="2809875"/>
          </a:xfrm>
          <a:prstGeom prst="rect">
            <a:avLst/>
          </a:prstGeom>
        </p:spPr>
      </p:pic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89F49ECC-19AC-4F13-9191-1E3689502A79}"/>
              </a:ext>
            </a:extLst>
          </p:cNvPr>
          <p:cNvSpPr/>
          <p:nvPr/>
        </p:nvSpPr>
        <p:spPr>
          <a:xfrm>
            <a:off x="826840" y="4280209"/>
            <a:ext cx="2880320" cy="4001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i="1" dirty="0"/>
              <a:t>k</a:t>
            </a:r>
            <a:r>
              <a:rPr lang="en-US" altLang="zh-CN" dirty="0"/>
              <a:t>-sparse solutions</a:t>
            </a:r>
            <a:endParaRPr lang="zh-CN" altLang="en-US" dirty="0"/>
          </a:p>
        </p:txBody>
      </p:sp>
      <p:cxnSp>
        <p:nvCxnSpPr>
          <p:cNvPr id="10" name="直接箭头连接符 9">
            <a:extLst>
              <a:ext uri="{FF2B5EF4-FFF2-40B4-BE49-F238E27FC236}">
                <a16:creationId xmlns:a16="http://schemas.microsoft.com/office/drawing/2014/main" id="{3BB38663-DB82-48A7-A30B-03E5F8600A09}"/>
              </a:ext>
            </a:extLst>
          </p:cNvPr>
          <p:cNvCxnSpPr>
            <a:stCxn id="7" idx="2"/>
            <a:endCxn id="4" idx="0"/>
          </p:cNvCxnSpPr>
          <p:nvPr/>
        </p:nvCxnSpPr>
        <p:spPr>
          <a:xfrm>
            <a:off x="2267744" y="2109774"/>
            <a:ext cx="0" cy="4067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1AE7F3E-7E96-4C38-9ECD-97BD0BB75E7D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2267744" y="2916671"/>
            <a:ext cx="0" cy="41890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31BF33EC-5430-4F09-A1A3-D7F276D50C33}"/>
              </a:ext>
            </a:extLst>
          </p:cNvPr>
          <p:cNvCxnSpPr>
            <a:stCxn id="5" idx="2"/>
            <a:endCxn id="12" idx="0"/>
          </p:cNvCxnSpPr>
          <p:nvPr/>
        </p:nvCxnSpPr>
        <p:spPr>
          <a:xfrm flipH="1">
            <a:off x="2267000" y="3735689"/>
            <a:ext cx="744" cy="54452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90D6EC9D-CF4D-4842-904B-D905234395E8}"/>
              </a:ext>
            </a:extLst>
          </p:cNvPr>
          <p:cNvSpPr/>
          <p:nvPr/>
        </p:nvSpPr>
        <p:spPr>
          <a:xfrm>
            <a:off x="142875" y="927203"/>
            <a:ext cx="2052117" cy="341557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E6CBFAEA-7A38-47E5-9BD6-2BD36138DECA}"/>
              </a:ext>
            </a:extLst>
          </p:cNvPr>
          <p:cNvSpPr/>
          <p:nvPr/>
        </p:nvSpPr>
        <p:spPr>
          <a:xfrm>
            <a:off x="4139952" y="2269406"/>
            <a:ext cx="4573141" cy="79937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2D8A28C2-10F4-425B-918F-1DC48884713A}"/>
              </a:ext>
            </a:extLst>
          </p:cNvPr>
          <p:cNvGraphicFramePr>
            <a:graphicFrameLocks noChangeAspect="1"/>
          </p:cNvGraphicFramePr>
          <p:nvPr>
            <p:extLst/>
          </p:nvPr>
        </p:nvGraphicFramePr>
        <p:xfrm>
          <a:off x="4267203" y="2390946"/>
          <a:ext cx="4009657" cy="59793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74" name="Equation" r:id="rId5" imgW="2895480" imgH="431640" progId="Equation.DSMT4">
                  <p:embed/>
                </p:oleObj>
              </mc:Choice>
              <mc:Fallback>
                <p:oleObj name="Equation" r:id="rId5" imgW="2895480" imgH="431640" progId="Equation.DSMT4">
                  <p:embed/>
                  <p:pic>
                    <p:nvPicPr>
                      <p:cNvPr id="22" name="对象 21">
                        <a:extLst>
                          <a:ext uri="{FF2B5EF4-FFF2-40B4-BE49-F238E27FC236}">
                            <a16:creationId xmlns:a16="http://schemas.microsoft.com/office/drawing/2014/main" id="{2D8A28C2-10F4-425B-918F-1DC48884713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4267203" y="2390946"/>
                        <a:ext cx="4009657" cy="59793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697578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2" grpId="0" animBg="1"/>
      <p:bldP spid="20" grpId="0" animBg="1"/>
      <p:bldP spid="21" grpId="0" animBg="1"/>
      <p:bldP spid="21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Arial"/>
              </a:rPr>
              <a:t>Motivation</a:t>
            </a:r>
            <a:endParaRPr lang="zh-CN" altLang="en-US" sz="2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ECBAC9BD-76CA-4440-9274-7E56D9E7B3DC}"/>
              </a:ext>
            </a:extLst>
          </p:cNvPr>
          <p:cNvSpPr txBox="1"/>
          <p:nvPr/>
        </p:nvSpPr>
        <p:spPr>
          <a:xfrm>
            <a:off x="142875" y="908720"/>
            <a:ext cx="50051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Preference-based local search operator</a:t>
            </a:r>
            <a:endParaRPr lang="zh-CN" altLang="en-US" b="1" dirty="0"/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4C493A74-F2A6-48A6-81C2-621C61677EA0}"/>
              </a:ext>
            </a:extLst>
          </p:cNvPr>
          <p:cNvSpPr/>
          <p:nvPr/>
        </p:nvSpPr>
        <p:spPr>
          <a:xfrm>
            <a:off x="2195736" y="936495"/>
            <a:ext cx="2376264" cy="341557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4BBFA77-4BFD-4231-9E1A-16EFD0C70A6E}"/>
              </a:ext>
            </a:extLst>
          </p:cNvPr>
          <p:cNvSpPr/>
          <p:nvPr/>
        </p:nvSpPr>
        <p:spPr>
          <a:xfrm>
            <a:off x="4128705" y="2744638"/>
            <a:ext cx="1152124" cy="40011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MOEA</a:t>
            </a:r>
            <a:endParaRPr lang="zh-CN" altLang="en-US" dirty="0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C9DAFF88-EC35-4E74-AEE0-B06CFEA6789E}"/>
              </a:ext>
            </a:extLst>
          </p:cNvPr>
          <p:cNvSpPr/>
          <p:nvPr/>
        </p:nvSpPr>
        <p:spPr>
          <a:xfrm>
            <a:off x="3552641" y="1761787"/>
            <a:ext cx="2304256" cy="576064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Network reconstruction</a:t>
            </a:r>
            <a:endParaRPr lang="zh-CN" altLang="en-US" dirty="0"/>
          </a:p>
        </p:txBody>
      </p:sp>
      <p:cxnSp>
        <p:nvCxnSpPr>
          <p:cNvPr id="16" name="直接箭头连接符 15">
            <a:extLst>
              <a:ext uri="{FF2B5EF4-FFF2-40B4-BE49-F238E27FC236}">
                <a16:creationId xmlns:a16="http://schemas.microsoft.com/office/drawing/2014/main" id="{E50423FB-F28A-43FF-9EBA-539B21CF4430}"/>
              </a:ext>
            </a:extLst>
          </p:cNvPr>
          <p:cNvCxnSpPr>
            <a:cxnSpLocks/>
            <a:stCxn id="15" idx="2"/>
            <a:endCxn id="14" idx="0"/>
          </p:cNvCxnSpPr>
          <p:nvPr/>
        </p:nvCxnSpPr>
        <p:spPr>
          <a:xfrm flipH="1">
            <a:off x="4704767" y="2337851"/>
            <a:ext cx="2" cy="40678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04BBFA77-4BFD-4231-9E1A-16EFD0C70A6E}"/>
              </a:ext>
            </a:extLst>
          </p:cNvPr>
          <p:cNvSpPr/>
          <p:nvPr/>
        </p:nvSpPr>
        <p:spPr>
          <a:xfrm>
            <a:off x="3353226" y="5005103"/>
            <a:ext cx="2723724" cy="440121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Local search operator</a:t>
            </a:r>
            <a:endParaRPr lang="zh-CN" altLang="en-US" dirty="0"/>
          </a:p>
        </p:txBody>
      </p:sp>
      <p:cxnSp>
        <p:nvCxnSpPr>
          <p:cNvPr id="18" name="直接箭头连接符 17">
            <a:extLst>
              <a:ext uri="{FF2B5EF4-FFF2-40B4-BE49-F238E27FC236}">
                <a16:creationId xmlns:a16="http://schemas.microsoft.com/office/drawing/2014/main" id="{AE485658-7A90-4AB3-8CA1-910313E6E7FF}"/>
              </a:ext>
            </a:extLst>
          </p:cNvPr>
          <p:cNvCxnSpPr>
            <a:cxnSpLocks/>
            <a:stCxn id="14" idx="2"/>
            <a:endCxn id="17" idx="0"/>
          </p:cNvCxnSpPr>
          <p:nvPr/>
        </p:nvCxnSpPr>
        <p:spPr>
          <a:xfrm>
            <a:off x="4704767" y="3144748"/>
            <a:ext cx="10321" cy="1860355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CD46E306-B741-4700-B1F4-887004FC1566}"/>
              </a:ext>
            </a:extLst>
          </p:cNvPr>
          <p:cNvSpPr/>
          <p:nvPr/>
        </p:nvSpPr>
        <p:spPr>
          <a:xfrm>
            <a:off x="120084" y="5005103"/>
            <a:ext cx="2723724" cy="440121"/>
          </a:xfrm>
          <a:prstGeom prst="roundRect">
            <a:avLst/>
          </a:prstGeom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Rely on gradient</a:t>
            </a:r>
            <a:endParaRPr lang="zh-CN" altLang="en-US" dirty="0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B0982476-3919-4C6A-8F47-311BB3119477}"/>
              </a:ext>
            </a:extLst>
          </p:cNvPr>
          <p:cNvSpPr/>
          <p:nvPr/>
        </p:nvSpPr>
        <p:spPr>
          <a:xfrm>
            <a:off x="106279" y="2724632"/>
            <a:ext cx="2723724" cy="440121"/>
          </a:xfrm>
          <a:prstGeom prst="roundRect">
            <a:avLst/>
          </a:prstGeom>
          <a:ln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Binary coding</a:t>
            </a:r>
            <a:endParaRPr lang="zh-CN" altLang="en-US" dirty="0"/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47AFF24B-9F52-4386-A6DB-B65897FC1186}"/>
              </a:ext>
            </a:extLst>
          </p:cNvPr>
          <p:cNvCxnSpPr>
            <a:stCxn id="14" idx="1"/>
            <a:endCxn id="23" idx="3"/>
          </p:cNvCxnSpPr>
          <p:nvPr/>
        </p:nvCxnSpPr>
        <p:spPr>
          <a:xfrm flipH="1">
            <a:off x="2830003" y="2944693"/>
            <a:ext cx="1298702" cy="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箭头连接符 24">
            <a:extLst>
              <a:ext uri="{FF2B5EF4-FFF2-40B4-BE49-F238E27FC236}">
                <a16:creationId xmlns:a16="http://schemas.microsoft.com/office/drawing/2014/main" id="{FCE11526-23AF-4097-8A0F-B0051C14371B}"/>
              </a:ext>
            </a:extLst>
          </p:cNvPr>
          <p:cNvCxnSpPr>
            <a:stCxn id="17" idx="1"/>
            <a:endCxn id="20" idx="3"/>
          </p:cNvCxnSpPr>
          <p:nvPr/>
        </p:nvCxnSpPr>
        <p:spPr>
          <a:xfrm flipH="1">
            <a:off x="2843808" y="5225164"/>
            <a:ext cx="509418" cy="0"/>
          </a:xfrm>
          <a:prstGeom prst="straightConnector1">
            <a:avLst/>
          </a:prstGeom>
          <a:ln>
            <a:solidFill>
              <a:schemeClr val="tx1"/>
            </a:solidFill>
            <a:prstDash val="lg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乘号 25">
            <a:extLst>
              <a:ext uri="{FF2B5EF4-FFF2-40B4-BE49-F238E27FC236}">
                <a16:creationId xmlns:a16="http://schemas.microsoft.com/office/drawing/2014/main" id="{2418F0EF-5871-48A4-B8C7-02C404F8DBCB}"/>
              </a:ext>
            </a:extLst>
          </p:cNvPr>
          <p:cNvSpPr/>
          <p:nvPr/>
        </p:nvSpPr>
        <p:spPr>
          <a:xfrm>
            <a:off x="4458421" y="3789040"/>
            <a:ext cx="513334" cy="576064"/>
          </a:xfrm>
          <a:prstGeom prst="mathMultiply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矩形: 圆角 28">
            <a:extLst>
              <a:ext uri="{FF2B5EF4-FFF2-40B4-BE49-F238E27FC236}">
                <a16:creationId xmlns:a16="http://schemas.microsoft.com/office/drawing/2014/main" id="{DC34FE9E-6181-44BF-9D6F-9D6F70EEBAFC}"/>
              </a:ext>
            </a:extLst>
          </p:cNvPr>
          <p:cNvSpPr/>
          <p:nvPr/>
        </p:nvSpPr>
        <p:spPr>
          <a:xfrm>
            <a:off x="6576047" y="3648803"/>
            <a:ext cx="1793062" cy="852243"/>
          </a:xfrm>
          <a:prstGeom prst="roundRect">
            <a:avLst/>
          </a:prstGeom>
          <a:solidFill>
            <a:srgbClr val="FFCC6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dirty="0"/>
              <a:t>Alternative representation</a:t>
            </a:r>
            <a:endParaRPr lang="zh-CN" altLang="en-US" dirty="0"/>
          </a:p>
        </p:txBody>
      </p: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65D83196-48DA-4C58-9C9B-CACE057F0FF1}"/>
              </a:ext>
            </a:extLst>
          </p:cNvPr>
          <p:cNvCxnSpPr>
            <a:stCxn id="14" idx="3"/>
            <a:endCxn id="29" idx="0"/>
          </p:cNvCxnSpPr>
          <p:nvPr/>
        </p:nvCxnSpPr>
        <p:spPr>
          <a:xfrm>
            <a:off x="5280829" y="2944693"/>
            <a:ext cx="2191749" cy="70411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>
            <a:extLst>
              <a:ext uri="{FF2B5EF4-FFF2-40B4-BE49-F238E27FC236}">
                <a16:creationId xmlns:a16="http://schemas.microsoft.com/office/drawing/2014/main" id="{6FEAD80A-B29E-4AFC-84CC-2F2BEC337CAB}"/>
              </a:ext>
            </a:extLst>
          </p:cNvPr>
          <p:cNvCxnSpPr>
            <a:stCxn id="29" idx="2"/>
            <a:endCxn id="17" idx="3"/>
          </p:cNvCxnSpPr>
          <p:nvPr/>
        </p:nvCxnSpPr>
        <p:spPr>
          <a:xfrm flipH="1">
            <a:off x="6076950" y="4501046"/>
            <a:ext cx="1395628" cy="724118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0486778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7" grpId="0" animBg="1"/>
      <p:bldP spid="20" grpId="0" animBg="1"/>
      <p:bldP spid="23" grpId="0" animBg="1"/>
      <p:bldP spid="26" grpId="0" animBg="1"/>
      <p:bldP spid="2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CDEDDBE-670E-4B63-B1B2-0D49D1D3E48D}"/>
              </a:ext>
            </a:extLst>
          </p:cNvPr>
          <p:cNvSpPr/>
          <p:nvPr/>
        </p:nvSpPr>
        <p:spPr>
          <a:xfrm>
            <a:off x="251520" y="1124744"/>
            <a:ext cx="8352928" cy="186291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C09741B6-237D-48CF-A5AD-9DCC6FD774F6}"/>
              </a:ext>
            </a:extLst>
          </p:cNvPr>
          <p:cNvSpPr/>
          <p:nvPr/>
        </p:nvSpPr>
        <p:spPr>
          <a:xfrm>
            <a:off x="251520" y="1124744"/>
            <a:ext cx="3456384" cy="4743236"/>
          </a:xfrm>
          <a:prstGeom prst="roundRect">
            <a:avLst/>
          </a:prstGeom>
          <a:solidFill>
            <a:schemeClr val="bg1"/>
          </a:solidFill>
          <a:ln>
            <a:solidFill>
              <a:schemeClr val="accent2">
                <a:lumMod val="40000"/>
                <a:lumOff val="6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+mn-lt"/>
              </a:rPr>
              <a:t>Contribution</a:t>
            </a:r>
            <a:endParaRPr lang="zh-CN" altLang="en-US" sz="2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9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42A23F4-2C00-4A6F-BC5B-CB285F20B18A}"/>
              </a:ext>
            </a:extLst>
          </p:cNvPr>
          <p:cNvSpPr/>
          <p:nvPr/>
        </p:nvSpPr>
        <p:spPr>
          <a:xfrm>
            <a:off x="971600" y="1379983"/>
            <a:ext cx="1944216" cy="1368152"/>
          </a:xfrm>
          <a:prstGeom prst="round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Binary coding and alternative representations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1AC6D00-CB67-40F0-9965-4A185A6E3968}"/>
              </a:ext>
            </a:extLst>
          </p:cNvPr>
          <p:cNvSpPr/>
          <p:nvPr/>
        </p:nvSpPr>
        <p:spPr>
          <a:xfrm>
            <a:off x="3995936" y="1375558"/>
            <a:ext cx="1944216" cy="1368152"/>
          </a:xfrm>
          <a:prstGeom prst="round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Network structure subspace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174E99A-F108-4B80-A153-0EF6A6BE934A}"/>
              </a:ext>
            </a:extLst>
          </p:cNvPr>
          <p:cNvSpPr/>
          <p:nvPr/>
        </p:nvSpPr>
        <p:spPr>
          <a:xfrm>
            <a:off x="6372200" y="1375558"/>
            <a:ext cx="1944216" cy="1368152"/>
          </a:xfrm>
          <a:prstGeom prst="round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Preference-based local search operator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0" name="矩形: 圆角 19">
            <a:extLst>
              <a:ext uri="{FF2B5EF4-FFF2-40B4-BE49-F238E27FC236}">
                <a16:creationId xmlns:a16="http://schemas.microsoft.com/office/drawing/2014/main" id="{F9E0FDAB-7151-4C32-A30F-7CB5CB9F487B}"/>
              </a:ext>
            </a:extLst>
          </p:cNvPr>
          <p:cNvSpPr/>
          <p:nvPr/>
        </p:nvSpPr>
        <p:spPr>
          <a:xfrm>
            <a:off x="1232093" y="3203683"/>
            <a:ext cx="1440160" cy="984612"/>
          </a:xfrm>
          <a:prstGeom prst="roundRect">
            <a:avLst/>
          </a:prstGeom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Binary coding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2" name="矩形: 圆角 21">
            <a:extLst>
              <a:ext uri="{FF2B5EF4-FFF2-40B4-BE49-F238E27FC236}">
                <a16:creationId xmlns:a16="http://schemas.microsoft.com/office/drawing/2014/main" id="{4BEABB99-CB03-4E44-AF63-05CDAC85D323}"/>
              </a:ext>
            </a:extLst>
          </p:cNvPr>
          <p:cNvSpPr/>
          <p:nvPr/>
        </p:nvSpPr>
        <p:spPr>
          <a:xfrm>
            <a:off x="295989" y="4607085"/>
            <a:ext cx="1440160" cy="984612"/>
          </a:xfrm>
          <a:prstGeom prst="roundRect">
            <a:avLst/>
          </a:prstGeom>
          <a:solidFill>
            <a:srgbClr val="0099FF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Probability distribution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8" name="矩形: 圆角 27">
            <a:extLst>
              <a:ext uri="{FF2B5EF4-FFF2-40B4-BE49-F238E27FC236}">
                <a16:creationId xmlns:a16="http://schemas.microsoft.com/office/drawing/2014/main" id="{AF57D892-748B-43C7-9202-70FE5D8DE966}"/>
              </a:ext>
            </a:extLst>
          </p:cNvPr>
          <p:cNvSpPr/>
          <p:nvPr/>
        </p:nvSpPr>
        <p:spPr>
          <a:xfrm>
            <a:off x="2168199" y="4607085"/>
            <a:ext cx="1440160" cy="984612"/>
          </a:xfrm>
          <a:prstGeom prst="roundRect">
            <a:avLst/>
          </a:prstGeom>
          <a:solidFill>
            <a:srgbClr val="FFCC66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Natural parameters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29" name="直接箭头连接符 28">
            <a:extLst>
              <a:ext uri="{FF2B5EF4-FFF2-40B4-BE49-F238E27FC236}">
                <a16:creationId xmlns:a16="http://schemas.microsoft.com/office/drawing/2014/main" id="{4B1710E5-BF25-46D5-875D-68DA170ABB60}"/>
              </a:ext>
            </a:extLst>
          </p:cNvPr>
          <p:cNvCxnSpPr>
            <a:stCxn id="22" idx="0"/>
          </p:cNvCxnSpPr>
          <p:nvPr/>
        </p:nvCxnSpPr>
        <p:spPr>
          <a:xfrm flipV="1">
            <a:off x="1016069" y="4188295"/>
            <a:ext cx="288032" cy="41879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直接箭头连接符 30">
            <a:extLst>
              <a:ext uri="{FF2B5EF4-FFF2-40B4-BE49-F238E27FC236}">
                <a16:creationId xmlns:a16="http://schemas.microsoft.com/office/drawing/2014/main" id="{91ADC655-1B3D-4A86-81E9-C155ECD4933F}"/>
              </a:ext>
            </a:extLst>
          </p:cNvPr>
          <p:cNvCxnSpPr/>
          <p:nvPr/>
        </p:nvCxnSpPr>
        <p:spPr>
          <a:xfrm>
            <a:off x="1736149" y="5015633"/>
            <a:ext cx="4320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BC604E2E-89C6-4C0F-97C6-4116FF1100DC}"/>
              </a:ext>
            </a:extLst>
          </p:cNvPr>
          <p:cNvCxnSpPr/>
          <p:nvPr/>
        </p:nvCxnSpPr>
        <p:spPr>
          <a:xfrm flipH="1">
            <a:off x="1736149" y="5159649"/>
            <a:ext cx="432050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箭头: 上下 6">
            <a:extLst>
              <a:ext uri="{FF2B5EF4-FFF2-40B4-BE49-F238E27FC236}">
                <a16:creationId xmlns:a16="http://schemas.microsoft.com/office/drawing/2014/main" id="{03CB97AF-300A-46C3-9B98-BF74AF651961}"/>
              </a:ext>
            </a:extLst>
          </p:cNvPr>
          <p:cNvSpPr/>
          <p:nvPr/>
        </p:nvSpPr>
        <p:spPr>
          <a:xfrm>
            <a:off x="4788024" y="2843643"/>
            <a:ext cx="360040" cy="76859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4ED2F131-94C3-43DF-AAED-BDF9D25DD357}"/>
              </a:ext>
            </a:extLst>
          </p:cNvPr>
          <p:cNvSpPr/>
          <p:nvPr/>
        </p:nvSpPr>
        <p:spPr>
          <a:xfrm>
            <a:off x="4175956" y="3646637"/>
            <a:ext cx="1584176" cy="1212088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Logistic principal component analysis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14" name="连接符: 曲线 13">
            <a:extLst>
              <a:ext uri="{FF2B5EF4-FFF2-40B4-BE49-F238E27FC236}">
                <a16:creationId xmlns:a16="http://schemas.microsoft.com/office/drawing/2014/main" id="{FE9A9487-E959-4E3D-A42B-4DE3FFCD4830}"/>
              </a:ext>
            </a:extLst>
          </p:cNvPr>
          <p:cNvCxnSpPr>
            <a:endCxn id="9" idx="2"/>
          </p:cNvCxnSpPr>
          <p:nvPr/>
        </p:nvCxnSpPr>
        <p:spPr>
          <a:xfrm flipV="1">
            <a:off x="3608359" y="4858725"/>
            <a:ext cx="1359685" cy="217166"/>
          </a:xfrm>
          <a:prstGeom prst="curvedConnector2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连接符: 曲线 15">
            <a:extLst>
              <a:ext uri="{FF2B5EF4-FFF2-40B4-BE49-F238E27FC236}">
                <a16:creationId xmlns:a16="http://schemas.microsoft.com/office/drawing/2014/main" id="{110F04B2-697C-4096-A521-B6EF6BE4596B}"/>
              </a:ext>
            </a:extLst>
          </p:cNvPr>
          <p:cNvCxnSpPr>
            <a:stCxn id="22" idx="2"/>
          </p:cNvCxnSpPr>
          <p:nvPr/>
        </p:nvCxnSpPr>
        <p:spPr>
          <a:xfrm rot="5400000" flipH="1" flipV="1">
            <a:off x="2774196" y="985582"/>
            <a:ext cx="2847987" cy="6364243"/>
          </a:xfrm>
          <a:prstGeom prst="curvedConnector4">
            <a:avLst>
              <a:gd name="adj1" fmla="val -8027"/>
              <a:gd name="adj2" fmla="val 99958"/>
            </a:avLst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7DDE720A-E9D3-4079-B02B-38EB3F166908}"/>
              </a:ext>
            </a:extLst>
          </p:cNvPr>
          <p:cNvCxnSpPr/>
          <p:nvPr/>
        </p:nvCxnSpPr>
        <p:spPr>
          <a:xfrm>
            <a:off x="2554702" y="4187224"/>
            <a:ext cx="324038" cy="41136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4339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矩形: 圆角 22">
            <a:extLst>
              <a:ext uri="{FF2B5EF4-FFF2-40B4-BE49-F238E27FC236}">
                <a16:creationId xmlns:a16="http://schemas.microsoft.com/office/drawing/2014/main" id="{ACDEDDBE-670E-4B63-B1B2-0D49D1D3E48D}"/>
              </a:ext>
            </a:extLst>
          </p:cNvPr>
          <p:cNvSpPr/>
          <p:nvPr/>
        </p:nvSpPr>
        <p:spPr>
          <a:xfrm>
            <a:off x="539552" y="1124744"/>
            <a:ext cx="7920880" cy="1862916"/>
          </a:xfrm>
          <a:prstGeom prst="roundRect">
            <a:avLst/>
          </a:prstGeom>
          <a:solidFill>
            <a:schemeClr val="accent5">
              <a:lumMod val="75000"/>
            </a:schemeClr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+mn-lt"/>
              </a:rPr>
              <a:t>Contribution</a:t>
            </a:r>
            <a:endParaRPr lang="zh-CN" altLang="en-US" sz="2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10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542A23F4-2C00-4A6F-BC5B-CB285F20B18A}"/>
              </a:ext>
            </a:extLst>
          </p:cNvPr>
          <p:cNvSpPr/>
          <p:nvPr/>
        </p:nvSpPr>
        <p:spPr>
          <a:xfrm>
            <a:off x="827584" y="1379983"/>
            <a:ext cx="1944216" cy="1368152"/>
          </a:xfrm>
          <a:prstGeom prst="round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Binary coding and alternative representations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F1AC6D00-CB67-40F0-9965-4A185A6E3968}"/>
              </a:ext>
            </a:extLst>
          </p:cNvPr>
          <p:cNvSpPr/>
          <p:nvPr/>
        </p:nvSpPr>
        <p:spPr>
          <a:xfrm>
            <a:off x="3563888" y="1375558"/>
            <a:ext cx="1944216" cy="1368152"/>
          </a:xfrm>
          <a:prstGeom prst="round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Network structure subspace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18" name="矩形: 圆角 17">
            <a:extLst>
              <a:ext uri="{FF2B5EF4-FFF2-40B4-BE49-F238E27FC236}">
                <a16:creationId xmlns:a16="http://schemas.microsoft.com/office/drawing/2014/main" id="{C174E99A-F108-4B80-A153-0EF6A6BE934A}"/>
              </a:ext>
            </a:extLst>
          </p:cNvPr>
          <p:cNvSpPr/>
          <p:nvPr/>
        </p:nvSpPr>
        <p:spPr>
          <a:xfrm>
            <a:off x="6228184" y="1375558"/>
            <a:ext cx="1944216" cy="1368152"/>
          </a:xfrm>
          <a:prstGeom prst="round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Preference-based local search operator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1" name="矩形: 圆角 20">
            <a:extLst>
              <a:ext uri="{FF2B5EF4-FFF2-40B4-BE49-F238E27FC236}">
                <a16:creationId xmlns:a16="http://schemas.microsoft.com/office/drawing/2014/main" id="{D104A9ED-5F54-4CC3-B9A4-9F046F758481}"/>
              </a:ext>
            </a:extLst>
          </p:cNvPr>
          <p:cNvSpPr/>
          <p:nvPr/>
        </p:nvSpPr>
        <p:spPr>
          <a:xfrm>
            <a:off x="539552" y="3429000"/>
            <a:ext cx="7920880" cy="1862916"/>
          </a:xfrm>
          <a:prstGeom prst="roundRect">
            <a:avLst/>
          </a:prstGeom>
          <a:solidFill>
            <a:srgbClr val="FFFFCC"/>
          </a:solidFill>
          <a:ln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: 圆角 24">
            <a:extLst>
              <a:ext uri="{FF2B5EF4-FFF2-40B4-BE49-F238E27FC236}">
                <a16:creationId xmlns:a16="http://schemas.microsoft.com/office/drawing/2014/main" id="{6D5CE615-9FCA-4172-9D0B-24B940A9723C}"/>
              </a:ext>
            </a:extLst>
          </p:cNvPr>
          <p:cNvSpPr/>
          <p:nvPr/>
        </p:nvSpPr>
        <p:spPr>
          <a:xfrm>
            <a:off x="827584" y="3684239"/>
            <a:ext cx="1944216" cy="1368152"/>
          </a:xfrm>
          <a:prstGeom prst="round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No cut-off</a:t>
            </a:r>
          </a:p>
          <a:p>
            <a:pPr algn="ctr"/>
            <a:endParaRPr lang="en-US" altLang="zh-CN" dirty="0">
              <a:solidFill>
                <a:schemeClr val="tx1"/>
              </a:solidFill>
            </a:endParaRPr>
          </a:p>
          <a:p>
            <a:pPr algn="ctr"/>
            <a:r>
              <a:rPr lang="en-US" altLang="zh-CN" dirty="0">
                <a:solidFill>
                  <a:schemeClr val="tx1"/>
                </a:solidFill>
              </a:rPr>
              <a:t>With gradient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6" name="矩形: 圆角 25">
            <a:extLst>
              <a:ext uri="{FF2B5EF4-FFF2-40B4-BE49-F238E27FC236}">
                <a16:creationId xmlns:a16="http://schemas.microsoft.com/office/drawing/2014/main" id="{F8C4D3A6-32EC-496A-AF2A-9493408765B9}"/>
              </a:ext>
            </a:extLst>
          </p:cNvPr>
          <p:cNvSpPr/>
          <p:nvPr/>
        </p:nvSpPr>
        <p:spPr>
          <a:xfrm>
            <a:off x="3563888" y="3679814"/>
            <a:ext cx="1944216" cy="1368152"/>
          </a:xfrm>
          <a:prstGeom prst="round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Improve search efficiency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7" name="矩形: 圆角 26">
            <a:extLst>
              <a:ext uri="{FF2B5EF4-FFF2-40B4-BE49-F238E27FC236}">
                <a16:creationId xmlns:a16="http://schemas.microsoft.com/office/drawing/2014/main" id="{038CFB07-857F-43B6-B14A-3C721F0A6F63}"/>
              </a:ext>
            </a:extLst>
          </p:cNvPr>
          <p:cNvSpPr/>
          <p:nvPr/>
        </p:nvSpPr>
        <p:spPr>
          <a:xfrm>
            <a:off x="6228184" y="3679814"/>
            <a:ext cx="1944216" cy="1368152"/>
          </a:xfrm>
          <a:prstGeom prst="roundRect">
            <a:avLst/>
          </a:prstGeom>
          <a:solidFill>
            <a:schemeClr val="bg1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Find </a:t>
            </a:r>
            <a:r>
              <a:rPr lang="en-US" altLang="zh-CN" i="1" dirty="0">
                <a:solidFill>
                  <a:schemeClr val="tx1"/>
                </a:solidFill>
              </a:rPr>
              <a:t>k</a:t>
            </a:r>
            <a:r>
              <a:rPr lang="en-US" altLang="zh-CN" dirty="0">
                <a:solidFill>
                  <a:schemeClr val="tx1"/>
                </a:solidFill>
              </a:rPr>
              <a:t>-sparse solutions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2" name="箭头: 上下 1">
            <a:extLst>
              <a:ext uri="{FF2B5EF4-FFF2-40B4-BE49-F238E27FC236}">
                <a16:creationId xmlns:a16="http://schemas.microsoft.com/office/drawing/2014/main" id="{468C9DE9-02B7-41F5-AF11-01647DCC3ACA}"/>
              </a:ext>
            </a:extLst>
          </p:cNvPr>
          <p:cNvSpPr/>
          <p:nvPr/>
        </p:nvSpPr>
        <p:spPr>
          <a:xfrm>
            <a:off x="1655676" y="2893586"/>
            <a:ext cx="288032" cy="591778"/>
          </a:xfrm>
          <a:prstGeom prst="up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箭头: 上下 32">
            <a:extLst>
              <a:ext uri="{FF2B5EF4-FFF2-40B4-BE49-F238E27FC236}">
                <a16:creationId xmlns:a16="http://schemas.microsoft.com/office/drawing/2014/main" id="{7D67720E-396E-4D5F-AA1F-064077890677}"/>
              </a:ext>
            </a:extLst>
          </p:cNvPr>
          <p:cNvSpPr/>
          <p:nvPr/>
        </p:nvSpPr>
        <p:spPr>
          <a:xfrm>
            <a:off x="4391980" y="2889161"/>
            <a:ext cx="288032" cy="591778"/>
          </a:xfrm>
          <a:prstGeom prst="up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" name="箭头: 上下 33">
            <a:extLst>
              <a:ext uri="{FF2B5EF4-FFF2-40B4-BE49-F238E27FC236}">
                <a16:creationId xmlns:a16="http://schemas.microsoft.com/office/drawing/2014/main" id="{81F6639D-91D9-4572-BC1D-18CB8839DCEF}"/>
              </a:ext>
            </a:extLst>
          </p:cNvPr>
          <p:cNvSpPr/>
          <p:nvPr/>
        </p:nvSpPr>
        <p:spPr>
          <a:xfrm>
            <a:off x="7056276" y="2889161"/>
            <a:ext cx="288032" cy="591778"/>
          </a:xfrm>
          <a:prstGeom prst="upDownArrow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81956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: 圆角 7">
            <a:extLst>
              <a:ext uri="{FF2B5EF4-FFF2-40B4-BE49-F238E27FC236}">
                <a16:creationId xmlns:a16="http://schemas.microsoft.com/office/drawing/2014/main" id="{4977BF6A-F1A6-46CD-A159-5A1FC46137D7}"/>
              </a:ext>
            </a:extLst>
          </p:cNvPr>
          <p:cNvSpPr/>
          <p:nvPr/>
        </p:nvSpPr>
        <p:spPr>
          <a:xfrm>
            <a:off x="1673906" y="5013176"/>
            <a:ext cx="5548729" cy="100811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+mn-lt"/>
              </a:rPr>
              <a:t>Methodology</a:t>
            </a:r>
            <a:endParaRPr lang="zh-CN" altLang="en-US" sz="2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graphicFrame>
        <p:nvGraphicFramePr>
          <p:cNvPr id="15" name="对象 14">
            <a:extLst>
              <a:ext uri="{FF2B5EF4-FFF2-40B4-BE49-F238E27FC236}">
                <a16:creationId xmlns:a16="http://schemas.microsoft.com/office/drawing/2014/main" id="{1057488F-D08C-477E-A8D3-86F2D2AD0E1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82737891"/>
              </p:ext>
            </p:extLst>
          </p:nvPr>
        </p:nvGraphicFramePr>
        <p:xfrm>
          <a:off x="2843808" y="1541213"/>
          <a:ext cx="2812294" cy="39059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8" r:id="rId4" imgW="1714500" imgH="241300" progId="Equation.DSMT4">
                  <p:embed/>
                </p:oleObj>
              </mc:Choice>
              <mc:Fallback>
                <p:oleObj r:id="rId4" imgW="1714500" imgH="241300" progId="Equation.DSMT4">
                  <p:embed/>
                  <p:pic>
                    <p:nvPicPr>
                      <p:cNvPr id="4" name="对象 3">
                        <a:extLst>
                          <a:ext uri="{FF2B5EF4-FFF2-40B4-BE49-F238E27FC236}">
                            <a16:creationId xmlns:a16="http://schemas.microsoft.com/office/drawing/2014/main" id="{B99F6503-27E2-493A-A61B-3834C4866094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43808" y="1541213"/>
                        <a:ext cx="2812294" cy="390597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对象 15">
            <a:extLst>
              <a:ext uri="{FF2B5EF4-FFF2-40B4-BE49-F238E27FC236}">
                <a16:creationId xmlns:a16="http://schemas.microsoft.com/office/drawing/2014/main" id="{E6E921AB-BAB7-40B9-BBCF-8644CD6C9CA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8788523"/>
              </p:ext>
            </p:extLst>
          </p:nvPr>
        </p:nvGraphicFramePr>
        <p:xfrm>
          <a:off x="2821922" y="2064261"/>
          <a:ext cx="3011980" cy="4149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29" r:id="rId6" imgW="1866090" imgH="253890" progId="Equation.DSMT4">
                  <p:embed/>
                </p:oleObj>
              </mc:Choice>
              <mc:Fallback>
                <p:oleObj r:id="rId6" imgW="1866090" imgH="253890" progId="Equation.DSMT4">
                  <p:embed/>
                  <p:pic>
                    <p:nvPicPr>
                      <p:cNvPr id="6" name="对象 5">
                        <a:extLst>
                          <a:ext uri="{FF2B5EF4-FFF2-40B4-BE49-F238E27FC236}">
                            <a16:creationId xmlns:a16="http://schemas.microsoft.com/office/drawing/2014/main" id="{A683A491-AC51-4FB4-89AC-4E03FAF692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21922" y="2064261"/>
                        <a:ext cx="3011980" cy="414916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extLst>
              <a:ext uri="{FF2B5EF4-FFF2-40B4-BE49-F238E27FC236}">
                <a16:creationId xmlns:a16="http://schemas.microsoft.com/office/drawing/2014/main" id="{7AE5CDB8-FA0A-4BBE-BA50-84D11B7352D4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73450335"/>
              </p:ext>
            </p:extLst>
          </p:nvPr>
        </p:nvGraphicFramePr>
        <p:xfrm>
          <a:off x="1673906" y="2587313"/>
          <a:ext cx="5112496" cy="141775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0" r:id="rId8" imgW="3403600" imgH="939800" progId="Equation.DSMT4">
                  <p:embed/>
                </p:oleObj>
              </mc:Choice>
              <mc:Fallback>
                <p:oleObj r:id="rId8" imgW="3403600" imgH="939800" progId="Equation.DSMT4">
                  <p:embed/>
                  <p:pic>
                    <p:nvPicPr>
                      <p:cNvPr id="8" name="对象 7">
                        <a:extLst>
                          <a:ext uri="{FF2B5EF4-FFF2-40B4-BE49-F238E27FC236}">
                            <a16:creationId xmlns:a16="http://schemas.microsoft.com/office/drawing/2014/main" id="{9202C4C3-8148-4381-95BE-370FD1E94CE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3906" y="2587313"/>
                        <a:ext cx="5112496" cy="1417751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文本框 2">
            <a:extLst>
              <a:ext uri="{FF2B5EF4-FFF2-40B4-BE49-F238E27FC236}">
                <a16:creationId xmlns:a16="http://schemas.microsoft.com/office/drawing/2014/main" id="{F15A9659-DAA6-4D2A-8828-F3D7B39A53C7}"/>
              </a:ext>
            </a:extLst>
          </p:cNvPr>
          <p:cNvSpPr txBox="1"/>
          <p:nvPr/>
        </p:nvSpPr>
        <p:spPr>
          <a:xfrm>
            <a:off x="683568" y="980728"/>
            <a:ext cx="25202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Network model</a:t>
            </a:r>
            <a:endParaRPr lang="zh-CN" altLang="en-US" b="1" dirty="0"/>
          </a:p>
        </p:txBody>
      </p:sp>
      <p:graphicFrame>
        <p:nvGraphicFramePr>
          <p:cNvPr id="5" name="对象 4">
            <a:extLst>
              <a:ext uri="{FF2B5EF4-FFF2-40B4-BE49-F238E27FC236}">
                <a16:creationId xmlns:a16="http://schemas.microsoft.com/office/drawing/2014/main" id="{EA2DB164-99E9-4ABA-9EEA-7B89FBC2F29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8795694"/>
              </p:ext>
            </p:extLst>
          </p:nvPr>
        </p:nvGraphicFramePr>
        <p:xfrm>
          <a:off x="3779912" y="4425677"/>
          <a:ext cx="1000125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1" name="Equation" r:id="rId10" imgW="1000114" imgH="371514" progId="Equation.DSMT4">
                  <p:embed/>
                </p:oleObj>
              </mc:Choice>
              <mc:Fallback>
                <p:oleObj name="Equation" r:id="rId10" imgW="1000114" imgH="371514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3779912" y="4425677"/>
                        <a:ext cx="1000125" cy="3714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文本框 5">
            <a:extLst>
              <a:ext uri="{FF2B5EF4-FFF2-40B4-BE49-F238E27FC236}">
                <a16:creationId xmlns:a16="http://schemas.microsoft.com/office/drawing/2014/main" id="{2DD478D3-02D9-4E2A-AB45-CD3A8BE43674}"/>
              </a:ext>
            </a:extLst>
          </p:cNvPr>
          <p:cNvSpPr txBox="1"/>
          <p:nvPr/>
        </p:nvSpPr>
        <p:spPr>
          <a:xfrm>
            <a:off x="2239680" y="4413637"/>
            <a:ext cx="20882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They satisfy</a:t>
            </a:r>
            <a:endParaRPr lang="zh-CN" altLang="en-US" dirty="0"/>
          </a:p>
        </p:txBody>
      </p:sp>
      <p:graphicFrame>
        <p:nvGraphicFramePr>
          <p:cNvPr id="7" name="对象 6">
            <a:extLst>
              <a:ext uri="{FF2B5EF4-FFF2-40B4-BE49-F238E27FC236}">
                <a16:creationId xmlns:a16="http://schemas.microsoft.com/office/drawing/2014/main" id="{EE3ABCAF-1511-4EF0-BB26-998E12384B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08605182"/>
              </p:ext>
            </p:extLst>
          </p:nvPr>
        </p:nvGraphicFramePr>
        <p:xfrm>
          <a:off x="1921365" y="5134716"/>
          <a:ext cx="4865037" cy="725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232" name="Equation" r:id="rId12" imgW="2895480" imgH="431640" progId="Equation.DSMT4">
                  <p:embed/>
                </p:oleObj>
              </mc:Choice>
              <mc:Fallback>
                <p:oleObj name="Equation" r:id="rId12" imgW="2895480" imgH="43164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1921365" y="5134716"/>
                        <a:ext cx="4865037" cy="7254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6671872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+mn-lt"/>
              </a:rPr>
              <a:t>Methodology</a:t>
            </a:r>
            <a:endParaRPr lang="zh-CN" altLang="en-US" sz="2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7FADCD49-30E6-47CB-9275-A63190702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3710" y="809329"/>
            <a:ext cx="5621540" cy="5981187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60E8374-2CCA-4AEC-B996-FD99128A2DD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929" y="1123679"/>
            <a:ext cx="3457575" cy="4610100"/>
          </a:xfrm>
          <a:prstGeom prst="rect">
            <a:avLst/>
          </a:prstGeom>
        </p:spPr>
      </p:pic>
      <p:sp>
        <p:nvSpPr>
          <p:cNvPr id="10" name="矩形 9">
            <a:extLst>
              <a:ext uri="{FF2B5EF4-FFF2-40B4-BE49-F238E27FC236}">
                <a16:creationId xmlns:a16="http://schemas.microsoft.com/office/drawing/2014/main" id="{314AE61C-50A6-48F0-B125-03FBE85D6CEF}"/>
              </a:ext>
            </a:extLst>
          </p:cNvPr>
          <p:cNvSpPr/>
          <p:nvPr/>
        </p:nvSpPr>
        <p:spPr>
          <a:xfrm>
            <a:off x="5617830" y="3068960"/>
            <a:ext cx="3526170" cy="576064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887570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+mn-lt"/>
              </a:rPr>
              <a:t>Methodology</a:t>
            </a:r>
            <a:endParaRPr lang="zh-CN" altLang="en-US" sz="2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0893765B-7C5B-4E8A-BA47-022B79A6C8FA}"/>
              </a:ext>
            </a:extLst>
          </p:cNvPr>
          <p:cNvSpPr txBox="1"/>
          <p:nvPr/>
        </p:nvSpPr>
        <p:spPr>
          <a:xfrm>
            <a:off x="395536" y="980728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Alternative representations</a:t>
            </a:r>
            <a:endParaRPr lang="zh-CN" altLang="en-US" b="1" dirty="0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BEA95CB3-FD71-4FEB-8E61-F4112F8545F0}"/>
              </a:ext>
            </a:extLst>
          </p:cNvPr>
          <p:cNvSpPr/>
          <p:nvPr/>
        </p:nvSpPr>
        <p:spPr>
          <a:xfrm>
            <a:off x="3718648" y="2049266"/>
            <a:ext cx="1440160" cy="984612"/>
          </a:xfrm>
          <a:prstGeom prst="roundRect">
            <a:avLst/>
          </a:prstGeom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Binary coding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A4BABED-1BE1-4BA6-9AC1-85D6620D6F7C}"/>
              </a:ext>
            </a:extLst>
          </p:cNvPr>
          <p:cNvSpPr/>
          <p:nvPr/>
        </p:nvSpPr>
        <p:spPr>
          <a:xfrm>
            <a:off x="822770" y="4545011"/>
            <a:ext cx="1440160" cy="984612"/>
          </a:xfrm>
          <a:prstGeom prst="roundRect">
            <a:avLst/>
          </a:prstGeom>
          <a:solidFill>
            <a:srgbClr val="0099FF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Probability distribution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25A012CD-5DB0-470D-9B00-68EDB66BC040}"/>
              </a:ext>
            </a:extLst>
          </p:cNvPr>
          <p:cNvSpPr/>
          <p:nvPr/>
        </p:nvSpPr>
        <p:spPr>
          <a:xfrm>
            <a:off x="6808638" y="4539622"/>
            <a:ext cx="1440160" cy="984612"/>
          </a:xfrm>
          <a:prstGeom prst="roundRect">
            <a:avLst/>
          </a:prstGeom>
          <a:solidFill>
            <a:srgbClr val="FFCC66"/>
          </a:solidFill>
          <a:ln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>
                <a:solidFill>
                  <a:schemeClr val="tx1"/>
                </a:solidFill>
              </a:rPr>
              <a:t>Natural parameters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B9F436AD-E89C-49AA-8060-8950DB78D306}"/>
              </a:ext>
            </a:extLst>
          </p:cNvPr>
          <p:cNvCxnSpPr>
            <a:cxnSpLocks/>
            <a:stCxn id="7" idx="0"/>
            <a:endCxn id="6" idx="1"/>
          </p:cNvCxnSpPr>
          <p:nvPr/>
        </p:nvCxnSpPr>
        <p:spPr>
          <a:xfrm flipV="1">
            <a:off x="1542850" y="2541572"/>
            <a:ext cx="2175798" cy="2003439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6316A61F-E54A-42A9-83CF-8F2AEE541D06}"/>
              </a:ext>
            </a:extLst>
          </p:cNvPr>
          <p:cNvCxnSpPr>
            <a:cxnSpLocks/>
          </p:cNvCxnSpPr>
          <p:nvPr/>
        </p:nvCxnSpPr>
        <p:spPr>
          <a:xfrm>
            <a:off x="2262930" y="4869160"/>
            <a:ext cx="45457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>
            <a:extLst>
              <a:ext uri="{FF2B5EF4-FFF2-40B4-BE49-F238E27FC236}">
                <a16:creationId xmlns:a16="http://schemas.microsoft.com/office/drawing/2014/main" id="{D8A3F17A-2EFE-412C-B6D2-A7866200E4AB}"/>
              </a:ext>
            </a:extLst>
          </p:cNvPr>
          <p:cNvCxnSpPr>
            <a:cxnSpLocks/>
          </p:cNvCxnSpPr>
          <p:nvPr/>
        </p:nvCxnSpPr>
        <p:spPr>
          <a:xfrm flipH="1">
            <a:off x="2262930" y="5157192"/>
            <a:ext cx="454570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557913E2-B67D-4B61-8896-140A024901D6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56802025"/>
              </p:ext>
            </p:extLst>
          </p:nvPr>
        </p:nvGraphicFramePr>
        <p:xfrm>
          <a:off x="3767183" y="1424694"/>
          <a:ext cx="1272514" cy="4934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39" name="Equation" r:id="rId4" imgW="622080" imgH="241200" progId="Equation.DSMT4">
                  <p:embed/>
                </p:oleObj>
              </mc:Choice>
              <mc:Fallback>
                <p:oleObj name="Equation" r:id="rId4" imgW="622080" imgH="241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3767183" y="1424694"/>
                        <a:ext cx="1272514" cy="4934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5" name="直接箭头连接符 4">
            <a:extLst>
              <a:ext uri="{FF2B5EF4-FFF2-40B4-BE49-F238E27FC236}">
                <a16:creationId xmlns:a16="http://schemas.microsoft.com/office/drawing/2014/main" id="{0F170C65-4ED1-49F1-8C74-A5F566FDE02F}"/>
              </a:ext>
            </a:extLst>
          </p:cNvPr>
          <p:cNvCxnSpPr>
            <a:cxnSpLocks/>
            <a:stCxn id="6" idx="3"/>
            <a:endCxn id="8" idx="0"/>
          </p:cNvCxnSpPr>
          <p:nvPr/>
        </p:nvCxnSpPr>
        <p:spPr>
          <a:xfrm>
            <a:off x="5158808" y="2541572"/>
            <a:ext cx="2369910" cy="199805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8F8F5FE2-A7CE-419C-8C96-06F911A5F28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27437534"/>
              </p:ext>
            </p:extLst>
          </p:nvPr>
        </p:nvGraphicFramePr>
        <p:xfrm>
          <a:off x="6355393" y="2932616"/>
          <a:ext cx="2103545" cy="54536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0" name="Equation" r:id="rId6" imgW="1028520" imgH="266400" progId="Equation.DSMT4">
                  <p:embed/>
                </p:oleObj>
              </mc:Choice>
              <mc:Fallback>
                <p:oleObj name="Equation" r:id="rId6" imgW="1028520" imgH="266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6355393" y="2932616"/>
                        <a:ext cx="2103545" cy="54536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1" name="对象 20">
            <a:extLst>
              <a:ext uri="{FF2B5EF4-FFF2-40B4-BE49-F238E27FC236}">
                <a16:creationId xmlns:a16="http://schemas.microsoft.com/office/drawing/2014/main" id="{E863673D-1657-4EC5-B639-27795EE70D4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28550980"/>
              </p:ext>
            </p:extLst>
          </p:nvPr>
        </p:nvGraphicFramePr>
        <p:xfrm>
          <a:off x="3059113" y="3871913"/>
          <a:ext cx="3168650" cy="960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1" name="Equation" r:id="rId8" imgW="1549080" imgH="469800" progId="Equation.DSMT4">
                  <p:embed/>
                </p:oleObj>
              </mc:Choice>
              <mc:Fallback>
                <p:oleObj name="Equation" r:id="rId8" imgW="1549080" imgH="4698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3059113" y="3871913"/>
                        <a:ext cx="3168650" cy="9604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" name="对象 21">
            <a:extLst>
              <a:ext uri="{FF2B5EF4-FFF2-40B4-BE49-F238E27FC236}">
                <a16:creationId xmlns:a16="http://schemas.microsoft.com/office/drawing/2014/main" id="{B04EF286-6B5A-49C6-9E3B-FCB7FA3EBA6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37877365"/>
              </p:ext>
            </p:extLst>
          </p:nvPr>
        </p:nvGraphicFramePr>
        <p:xfrm>
          <a:off x="2562225" y="5103813"/>
          <a:ext cx="4103688" cy="9350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2" name="Equation" r:id="rId10" imgW="2006280" imgH="457200" progId="Equation.DSMT4">
                  <p:embed/>
                </p:oleObj>
              </mc:Choice>
              <mc:Fallback>
                <p:oleObj name="Equation" r:id="rId10" imgW="2006280" imgH="4572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2562225" y="5103813"/>
                        <a:ext cx="4103688" cy="9350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7973186B-202D-4F1E-BCC2-CAD759DA57E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0060983"/>
              </p:ext>
            </p:extLst>
          </p:nvPr>
        </p:nvGraphicFramePr>
        <p:xfrm>
          <a:off x="330788" y="2656659"/>
          <a:ext cx="2337272" cy="986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243" name="Equation" r:id="rId12" imgW="1143000" imgH="482400" progId="Equation.DSMT4">
                  <p:embed/>
                </p:oleObj>
              </mc:Choice>
              <mc:Fallback>
                <p:oleObj name="Equation" r:id="rId12" imgW="1143000" imgH="4824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330788" y="2656659"/>
                        <a:ext cx="2337272" cy="986849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" name="文本框 30">
            <a:extLst>
              <a:ext uri="{FF2B5EF4-FFF2-40B4-BE49-F238E27FC236}">
                <a16:creationId xmlns:a16="http://schemas.microsoft.com/office/drawing/2014/main" id="{A4FAC618-24D9-4B89-9E00-34A02C66CD9E}"/>
              </a:ext>
            </a:extLst>
          </p:cNvPr>
          <p:cNvSpPr txBox="1"/>
          <p:nvPr/>
        </p:nvSpPr>
        <p:spPr>
          <a:xfrm>
            <a:off x="457691" y="1432068"/>
            <a:ext cx="25334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(Bernoulli distribution)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06139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+mn-lt"/>
              </a:rPr>
              <a:t>Methodology</a:t>
            </a:r>
            <a:endParaRPr lang="zh-CN" altLang="en-US" sz="2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9AEAE874-F771-4BD1-9E5F-09729742EDC6}"/>
              </a:ext>
            </a:extLst>
          </p:cNvPr>
          <p:cNvSpPr txBox="1"/>
          <p:nvPr/>
        </p:nvSpPr>
        <p:spPr>
          <a:xfrm>
            <a:off x="539552" y="1052736"/>
            <a:ext cx="5400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Logistic principal component analysis (LPCA)</a:t>
            </a:r>
            <a:endParaRPr lang="zh-CN" altLang="en-US" b="1" dirty="0"/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1A9D3DF9-87CE-427D-BF4E-7AE5D91E4C0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03641364"/>
              </p:ext>
            </p:extLst>
          </p:nvPr>
        </p:nvGraphicFramePr>
        <p:xfrm>
          <a:off x="575145" y="1942559"/>
          <a:ext cx="1546483" cy="387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0" name="Equation" r:id="rId4" imgW="1026367" imgH="256597" progId="Equation.DSMT4">
                  <p:embed/>
                </p:oleObj>
              </mc:Choice>
              <mc:Fallback>
                <p:oleObj name="Equation" r:id="rId4" imgW="1026367" imgH="25659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75145" y="1942559"/>
                        <a:ext cx="1546483" cy="3872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53A190BB-594E-49C6-8C25-5D5EA5FFDC7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1704380"/>
              </p:ext>
            </p:extLst>
          </p:nvPr>
        </p:nvGraphicFramePr>
        <p:xfrm>
          <a:off x="577467" y="2516818"/>
          <a:ext cx="1302678" cy="387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1" name="Equation" r:id="rId6" imgW="864763" imgH="256597" progId="Equation.DSMT4">
                  <p:embed/>
                </p:oleObj>
              </mc:Choice>
              <mc:Fallback>
                <p:oleObj name="Equation" r:id="rId6" imgW="864763" imgH="256597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77467" y="2516818"/>
                        <a:ext cx="1302678" cy="3872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矩形: 圆角 7">
            <a:extLst>
              <a:ext uri="{FF2B5EF4-FFF2-40B4-BE49-F238E27FC236}">
                <a16:creationId xmlns:a16="http://schemas.microsoft.com/office/drawing/2014/main" id="{00581D8E-A7C7-4CFC-81ED-9D3B2FBCD13A}"/>
              </a:ext>
            </a:extLst>
          </p:cNvPr>
          <p:cNvSpPr/>
          <p:nvPr/>
        </p:nvSpPr>
        <p:spPr>
          <a:xfrm>
            <a:off x="539552" y="1942559"/>
            <a:ext cx="3211213" cy="400110"/>
          </a:xfrm>
          <a:prstGeom prst="round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A47A99D8-B7B6-4D29-84C1-535A207A2886}"/>
              </a:ext>
            </a:extLst>
          </p:cNvPr>
          <p:cNvSpPr txBox="1"/>
          <p:nvPr/>
        </p:nvSpPr>
        <p:spPr>
          <a:xfrm>
            <a:off x="2816373" y="1940754"/>
            <a:ext cx="110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reduce</a:t>
            </a:r>
            <a:endParaRPr lang="zh-CN" altLang="en-US" dirty="0"/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56056129-3CDD-4241-A3E5-5829C33583A1}"/>
              </a:ext>
            </a:extLst>
          </p:cNvPr>
          <p:cNvSpPr/>
          <p:nvPr/>
        </p:nvSpPr>
        <p:spPr>
          <a:xfrm>
            <a:off x="539552" y="2524834"/>
            <a:ext cx="3211213" cy="400110"/>
          </a:xfrm>
          <a:prstGeom prst="round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78B1DD31-3FF1-4C66-BB1E-DBB078292C16}"/>
              </a:ext>
            </a:extLst>
          </p:cNvPr>
          <p:cNvSpPr txBox="1"/>
          <p:nvPr/>
        </p:nvSpPr>
        <p:spPr>
          <a:xfrm>
            <a:off x="2814660" y="2531423"/>
            <a:ext cx="1104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recover</a:t>
            </a:r>
            <a:endParaRPr lang="zh-CN" altLang="en-US" dirty="0"/>
          </a:p>
        </p:txBody>
      </p:sp>
      <p:graphicFrame>
        <p:nvGraphicFramePr>
          <p:cNvPr id="23" name="对象 22">
            <a:extLst>
              <a:ext uri="{FF2B5EF4-FFF2-40B4-BE49-F238E27FC236}">
                <a16:creationId xmlns:a16="http://schemas.microsoft.com/office/drawing/2014/main" id="{6FC47607-9307-4A18-A120-BC1D8740C76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78801309"/>
              </p:ext>
            </p:extLst>
          </p:nvPr>
        </p:nvGraphicFramePr>
        <p:xfrm>
          <a:off x="965396" y="3116714"/>
          <a:ext cx="2060383" cy="387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2" name="Equation" r:id="rId8" imgW="1368250" imgH="256597" progId="Equation.DSMT4">
                  <p:embed/>
                </p:oleObj>
              </mc:Choice>
              <mc:Fallback>
                <p:oleObj name="Equation" r:id="rId8" imgW="1368250" imgH="256597" progId="Equation.DSMT4">
                  <p:embed/>
                  <p:pic>
                    <p:nvPicPr>
                      <p:cNvPr id="16" name="对象 15">
                        <a:extLst>
                          <a:ext uri="{FF2B5EF4-FFF2-40B4-BE49-F238E27FC236}">
                            <a16:creationId xmlns:a16="http://schemas.microsoft.com/office/drawing/2014/main" id="{CF2C1698-5A13-434E-AFFD-3EB4193971A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965396" y="3116714"/>
                        <a:ext cx="2060383" cy="3872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" name="对象 24">
            <a:extLst>
              <a:ext uri="{FF2B5EF4-FFF2-40B4-BE49-F238E27FC236}">
                <a16:creationId xmlns:a16="http://schemas.microsoft.com/office/drawing/2014/main" id="{9E3D0494-0565-4625-8EA1-1F8BBAC5B76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6617600"/>
              </p:ext>
            </p:extLst>
          </p:nvPr>
        </p:nvGraphicFramePr>
        <p:xfrm>
          <a:off x="672591" y="3782369"/>
          <a:ext cx="2645992" cy="38721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3" name="Equation" r:id="rId10" imgW="1757896" imgH="256597" progId="Equation.DSMT4">
                  <p:embed/>
                </p:oleObj>
              </mc:Choice>
              <mc:Fallback>
                <p:oleObj name="Equation" r:id="rId10" imgW="1757896" imgH="256597" progId="Equation.DSMT4">
                  <p:embed/>
                  <p:pic>
                    <p:nvPicPr>
                      <p:cNvPr id="17" name="对象 16">
                        <a:extLst>
                          <a:ext uri="{FF2B5EF4-FFF2-40B4-BE49-F238E27FC236}">
                            <a16:creationId xmlns:a16="http://schemas.microsoft.com/office/drawing/2014/main" id="{4472737D-6732-4EA5-8092-EBFA3B7A290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672591" y="3782369"/>
                        <a:ext cx="2645992" cy="38721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6" name="对象 25">
            <a:extLst>
              <a:ext uri="{FF2B5EF4-FFF2-40B4-BE49-F238E27FC236}">
                <a16:creationId xmlns:a16="http://schemas.microsoft.com/office/drawing/2014/main" id="{1A26BA76-F1B3-4D06-B5B7-0123C17EE2A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18867048"/>
              </p:ext>
            </p:extLst>
          </p:nvPr>
        </p:nvGraphicFramePr>
        <p:xfrm>
          <a:off x="600885" y="4515707"/>
          <a:ext cx="4849788" cy="114492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4" name="Equation" r:id="rId12" imgW="3220954" imgH="760806" progId="Equation.DSMT4">
                  <p:embed/>
                </p:oleObj>
              </mc:Choice>
              <mc:Fallback>
                <p:oleObj name="Equation" r:id="rId12" imgW="3220954" imgH="760806" progId="Equation.DSMT4">
                  <p:embed/>
                  <p:pic>
                    <p:nvPicPr>
                      <p:cNvPr id="18" name="对象 17">
                        <a:extLst>
                          <a:ext uri="{FF2B5EF4-FFF2-40B4-BE49-F238E27FC236}">
                            <a16:creationId xmlns:a16="http://schemas.microsoft.com/office/drawing/2014/main" id="{35A175C5-EDF1-4BE4-BC4D-7006D5FFE93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00885" y="4515707"/>
                        <a:ext cx="4849788" cy="114492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" name="对象 18">
            <a:extLst>
              <a:ext uri="{FF2B5EF4-FFF2-40B4-BE49-F238E27FC236}">
                <a16:creationId xmlns:a16="http://schemas.microsoft.com/office/drawing/2014/main" id="{3CA4309E-B4E0-4CD5-9BEC-7D09CAD432F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77223573"/>
              </p:ext>
            </p:extLst>
          </p:nvPr>
        </p:nvGraphicFramePr>
        <p:xfrm>
          <a:off x="5952425" y="3468681"/>
          <a:ext cx="1961877" cy="755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295" name="Equation" r:id="rId14" imgW="1187612" imgH="456412" progId="Equation.DSMT4">
                  <p:embed/>
                </p:oleObj>
              </mc:Choice>
              <mc:Fallback>
                <p:oleObj name="Equation" r:id="rId14" imgW="1187612" imgH="45641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5952425" y="3468681"/>
                        <a:ext cx="1961877" cy="7553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CB55FF0D-24A5-46CE-9F64-6861B30E752B}"/>
              </a:ext>
            </a:extLst>
          </p:cNvPr>
          <p:cNvSpPr txBox="1"/>
          <p:nvPr/>
        </p:nvSpPr>
        <p:spPr>
          <a:xfrm>
            <a:off x="5766316" y="2914683"/>
            <a:ext cx="24122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Reduced dimension </a:t>
            </a:r>
            <a:r>
              <a:rPr lang="en-US" altLang="zh-CN" i="1" dirty="0"/>
              <a:t>d</a:t>
            </a:r>
            <a:endParaRPr lang="zh-CN" altLang="en-US" i="1" dirty="0"/>
          </a:p>
        </p:txBody>
      </p:sp>
    </p:spTree>
    <p:extLst>
      <p:ext uri="{BB962C8B-B14F-4D97-AF65-F5344CB8AC3E}">
        <p14:creationId xmlns:p14="http://schemas.microsoft.com/office/powerpoint/2010/main" val="1130273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+mn-lt"/>
              </a:rPr>
              <a:t>Methodology</a:t>
            </a:r>
            <a:endParaRPr lang="zh-CN" altLang="en-US" sz="2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E478917-9D37-4CE9-9992-6E02E485B13D}"/>
              </a:ext>
            </a:extLst>
          </p:cNvPr>
          <p:cNvSpPr txBox="1"/>
          <p:nvPr/>
        </p:nvSpPr>
        <p:spPr>
          <a:xfrm>
            <a:off x="467544" y="980728"/>
            <a:ext cx="37444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Majorization-minimization (MM)</a:t>
            </a:r>
            <a:endParaRPr lang="zh-CN" altLang="en-US" b="1" dirty="0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E4F4AEA9-0360-4684-8935-7B83D2DC0B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14600" y="1501105"/>
            <a:ext cx="4800600" cy="4448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475802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+mn-lt"/>
              </a:rPr>
              <a:t>Methodology</a:t>
            </a:r>
            <a:endParaRPr lang="zh-CN" altLang="en-US" sz="2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31CA203-C4D9-47C6-8DEC-0BE172CE9A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268760"/>
            <a:ext cx="5064775" cy="4837240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40037B4-6414-48F8-9CCB-1CD14E23B2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64775" y="2204864"/>
            <a:ext cx="4010025" cy="3152775"/>
          </a:xfrm>
          <a:prstGeom prst="rect">
            <a:avLst/>
          </a:prstGeom>
        </p:spPr>
      </p:pic>
      <p:sp>
        <p:nvSpPr>
          <p:cNvPr id="3" name="矩形: 圆角 2">
            <a:extLst>
              <a:ext uri="{FF2B5EF4-FFF2-40B4-BE49-F238E27FC236}">
                <a16:creationId xmlns:a16="http://schemas.microsoft.com/office/drawing/2014/main" id="{6D5857BD-BD24-4029-8724-0C324EF0A107}"/>
              </a:ext>
            </a:extLst>
          </p:cNvPr>
          <p:cNvSpPr/>
          <p:nvPr/>
        </p:nvSpPr>
        <p:spPr>
          <a:xfrm>
            <a:off x="5513162" y="2564904"/>
            <a:ext cx="2443214" cy="2592288"/>
          </a:xfrm>
          <a:prstGeom prst="round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0F91A45B-CCDA-4CD4-8A3F-3BDDCFA2A3D9}"/>
              </a:ext>
            </a:extLst>
          </p:cNvPr>
          <p:cNvSpPr/>
          <p:nvPr/>
        </p:nvSpPr>
        <p:spPr>
          <a:xfrm>
            <a:off x="2015716" y="2096852"/>
            <a:ext cx="1512168" cy="216024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7D0DB9F1-8839-4B5C-81FF-48736E9FAB62}"/>
              </a:ext>
            </a:extLst>
          </p:cNvPr>
          <p:cNvSpPr/>
          <p:nvPr/>
        </p:nvSpPr>
        <p:spPr>
          <a:xfrm>
            <a:off x="539551" y="3477991"/>
            <a:ext cx="4525223" cy="674135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FAA2BE49-AC81-42C5-92F7-028EE263D9F3}"/>
              </a:ext>
            </a:extLst>
          </p:cNvPr>
          <p:cNvSpPr/>
          <p:nvPr/>
        </p:nvSpPr>
        <p:spPr>
          <a:xfrm>
            <a:off x="2122396" y="2329830"/>
            <a:ext cx="1225468" cy="216024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箭头: 右 4">
            <a:extLst>
              <a:ext uri="{FF2B5EF4-FFF2-40B4-BE49-F238E27FC236}">
                <a16:creationId xmlns:a16="http://schemas.microsoft.com/office/drawing/2014/main" id="{609FAC54-184C-4A02-815C-1F7FF6AF3F01}"/>
              </a:ext>
            </a:extLst>
          </p:cNvPr>
          <p:cNvSpPr/>
          <p:nvPr/>
        </p:nvSpPr>
        <p:spPr>
          <a:xfrm>
            <a:off x="5868144" y="1700808"/>
            <a:ext cx="1656184" cy="396044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箭头: 左 6">
            <a:extLst>
              <a:ext uri="{FF2B5EF4-FFF2-40B4-BE49-F238E27FC236}">
                <a16:creationId xmlns:a16="http://schemas.microsoft.com/office/drawing/2014/main" id="{FAF51D9E-7C7D-41B1-8370-4BD2DE84A346}"/>
              </a:ext>
            </a:extLst>
          </p:cNvPr>
          <p:cNvSpPr/>
          <p:nvPr/>
        </p:nvSpPr>
        <p:spPr>
          <a:xfrm>
            <a:off x="5860856" y="5571690"/>
            <a:ext cx="1656184" cy="432048"/>
          </a:xfrm>
          <a:prstGeom prst="lef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: 圆角 13">
            <a:extLst>
              <a:ext uri="{FF2B5EF4-FFF2-40B4-BE49-F238E27FC236}">
                <a16:creationId xmlns:a16="http://schemas.microsoft.com/office/drawing/2014/main" id="{0772CEE2-3043-46AE-984D-AE1784A04282}"/>
              </a:ext>
            </a:extLst>
          </p:cNvPr>
          <p:cNvSpPr/>
          <p:nvPr/>
        </p:nvSpPr>
        <p:spPr>
          <a:xfrm>
            <a:off x="509188" y="4129781"/>
            <a:ext cx="4525223" cy="523355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90B14209-6A8D-4EB0-87CE-AD78B91D686D}"/>
              </a:ext>
            </a:extLst>
          </p:cNvPr>
          <p:cNvSpPr/>
          <p:nvPr/>
        </p:nvSpPr>
        <p:spPr>
          <a:xfrm>
            <a:off x="7812360" y="3477991"/>
            <a:ext cx="1008112" cy="815105"/>
          </a:xfrm>
          <a:prstGeom prst="roundRect">
            <a:avLst/>
          </a:prstGeom>
          <a:noFill/>
          <a:ln>
            <a:solidFill>
              <a:srgbClr val="FF0000"/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63D02ABB-0A99-483A-97A5-5F2035A8E84D}"/>
              </a:ext>
            </a:extLst>
          </p:cNvPr>
          <p:cNvSpPr/>
          <p:nvPr/>
        </p:nvSpPr>
        <p:spPr>
          <a:xfrm>
            <a:off x="554733" y="4587769"/>
            <a:ext cx="4525223" cy="769870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6028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grpId="3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3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3" grpId="1" animBg="1"/>
      <p:bldP spid="3" grpId="2" animBg="1"/>
      <p:bldP spid="3" grpId="3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5" grpId="0" animBg="1"/>
      <p:bldP spid="5" grpId="1" animBg="1"/>
      <p:bldP spid="7" grpId="0" animBg="1"/>
      <p:bldP spid="7" grpId="1" animBg="1"/>
      <p:bldP spid="14" grpId="0" animBg="1"/>
      <p:bldP spid="14" grpId="1" animBg="1"/>
      <p:bldP spid="15" grpId="0" animBg="1"/>
      <p:bldP spid="15" grpId="1" animBg="1"/>
      <p:bldP spid="16" grpId="2" animBg="1"/>
      <p:bldP spid="16" grpId="3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+mn-lt"/>
              </a:rPr>
              <a:t>Methodology</a:t>
            </a:r>
            <a:endParaRPr lang="zh-CN" altLang="en-US" sz="2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CD5613DE-D8DD-4C75-A04C-F21016AE5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886" y="1873858"/>
            <a:ext cx="4746642" cy="3110284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0A181AD1-07B5-48EE-BE33-F00D9541F9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496" y="1988840"/>
            <a:ext cx="4583518" cy="3183433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E2DB80B9-C3B0-4D0C-838A-21317C077DF6}"/>
              </a:ext>
            </a:extLst>
          </p:cNvPr>
          <p:cNvSpPr/>
          <p:nvPr/>
        </p:nvSpPr>
        <p:spPr>
          <a:xfrm>
            <a:off x="323528" y="2933700"/>
            <a:ext cx="3888432" cy="927347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757448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+mn-lt"/>
              </a:rPr>
              <a:t>Methodology</a:t>
            </a:r>
            <a:endParaRPr lang="zh-CN" altLang="en-US" sz="2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graphicFrame>
        <p:nvGraphicFramePr>
          <p:cNvPr id="3" name="对象 2">
            <a:extLst>
              <a:ext uri="{FF2B5EF4-FFF2-40B4-BE49-F238E27FC236}">
                <a16:creationId xmlns:a16="http://schemas.microsoft.com/office/drawing/2014/main" id="{FBAE4C25-615F-4E4E-8377-5DD6A8EE53B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31340828"/>
              </p:ext>
            </p:extLst>
          </p:nvPr>
        </p:nvGraphicFramePr>
        <p:xfrm>
          <a:off x="5935290" y="1052736"/>
          <a:ext cx="2157413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0" name="Equation" r:id="rId4" imgW="2156879" imgH="865385" progId="Equation.DSMT4">
                  <p:embed/>
                </p:oleObj>
              </mc:Choice>
              <mc:Fallback>
                <p:oleObj name="Equation" r:id="rId4" imgW="2156879" imgH="865385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5935290" y="1052736"/>
                        <a:ext cx="2157413" cy="8651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4" name="对象 3">
            <a:extLst>
              <a:ext uri="{FF2B5EF4-FFF2-40B4-BE49-F238E27FC236}">
                <a16:creationId xmlns:a16="http://schemas.microsoft.com/office/drawing/2014/main" id="{0BB6FA53-C970-4A6B-8B55-9B4F7F589F9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11020520"/>
              </p:ext>
            </p:extLst>
          </p:nvPr>
        </p:nvGraphicFramePr>
        <p:xfrm>
          <a:off x="5405773" y="1844824"/>
          <a:ext cx="3154363" cy="10366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1" name="Equation" r:id="rId6" imgW="3154517" imgH="1036450" progId="Equation.DSMT4">
                  <p:embed/>
                </p:oleObj>
              </mc:Choice>
              <mc:Fallback>
                <p:oleObj name="Equation" r:id="rId6" imgW="3154517" imgH="103645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5405773" y="1844824"/>
                        <a:ext cx="3154363" cy="10366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矩形: 圆角 5">
            <a:extLst>
              <a:ext uri="{FF2B5EF4-FFF2-40B4-BE49-F238E27FC236}">
                <a16:creationId xmlns:a16="http://schemas.microsoft.com/office/drawing/2014/main" id="{5B074A20-CFD4-4E5D-9A18-4B156AF6BE36}"/>
              </a:ext>
            </a:extLst>
          </p:cNvPr>
          <p:cNvSpPr/>
          <p:nvPr/>
        </p:nvSpPr>
        <p:spPr>
          <a:xfrm>
            <a:off x="4921424" y="836712"/>
            <a:ext cx="3960440" cy="2047786"/>
          </a:xfrm>
          <a:prstGeom prst="round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274EDE5-3292-46BB-AADA-C9122EA54142}"/>
              </a:ext>
            </a:extLst>
          </p:cNvPr>
          <p:cNvSpPr txBox="1"/>
          <p:nvPr/>
        </p:nvSpPr>
        <p:spPr>
          <a:xfrm>
            <a:off x="5209456" y="787564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Gradient descent</a:t>
            </a:r>
            <a:endParaRPr lang="zh-CN" altLang="en-US" dirty="0"/>
          </a:p>
        </p:txBody>
      </p:sp>
      <p:sp>
        <p:nvSpPr>
          <p:cNvPr id="12" name="矩形: 圆角 11">
            <a:extLst>
              <a:ext uri="{FF2B5EF4-FFF2-40B4-BE49-F238E27FC236}">
                <a16:creationId xmlns:a16="http://schemas.microsoft.com/office/drawing/2014/main" id="{404A26AD-3742-41D4-B7D5-4C4085692638}"/>
              </a:ext>
            </a:extLst>
          </p:cNvPr>
          <p:cNvSpPr/>
          <p:nvPr/>
        </p:nvSpPr>
        <p:spPr>
          <a:xfrm>
            <a:off x="4921424" y="2924944"/>
            <a:ext cx="3960440" cy="1534269"/>
          </a:xfrm>
          <a:prstGeom prst="round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B8E03680-DBD9-44E2-AD04-418D0B4675F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708872070"/>
              </p:ext>
            </p:extLst>
          </p:nvPr>
        </p:nvGraphicFramePr>
        <p:xfrm>
          <a:off x="5885284" y="3212976"/>
          <a:ext cx="2090737" cy="447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2" name="Equation" r:id="rId8" imgW="2090442" imgH="447068" progId="Equation.DSMT4">
                  <p:embed/>
                </p:oleObj>
              </mc:Choice>
              <mc:Fallback>
                <p:oleObj name="Equation" r:id="rId8" imgW="2090442" imgH="447068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9"/>
                      <a:stretch>
                        <a:fillRect/>
                      </a:stretch>
                    </p:blipFill>
                    <p:spPr>
                      <a:xfrm>
                        <a:off x="5885284" y="3212976"/>
                        <a:ext cx="2090737" cy="44767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0" name="对象 9">
            <a:extLst>
              <a:ext uri="{FF2B5EF4-FFF2-40B4-BE49-F238E27FC236}">
                <a16:creationId xmlns:a16="http://schemas.microsoft.com/office/drawing/2014/main" id="{AC31AD3B-22EC-4654-8C86-5AA2CF2C0EB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79253534"/>
              </p:ext>
            </p:extLst>
          </p:nvPr>
        </p:nvGraphicFramePr>
        <p:xfrm>
          <a:off x="5120818" y="3645024"/>
          <a:ext cx="37242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3" name="Equation" r:id="rId10" imgW="3724801" imgH="503850" progId="Equation.DSMT4">
                  <p:embed/>
                </p:oleObj>
              </mc:Choice>
              <mc:Fallback>
                <p:oleObj name="Equation" r:id="rId10" imgW="3724801" imgH="50385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1"/>
                      <a:stretch>
                        <a:fillRect/>
                      </a:stretch>
                    </p:blipFill>
                    <p:spPr>
                      <a:xfrm>
                        <a:off x="5120818" y="3645024"/>
                        <a:ext cx="3724275" cy="5032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1" name="对象 10">
            <a:extLst>
              <a:ext uri="{FF2B5EF4-FFF2-40B4-BE49-F238E27FC236}">
                <a16:creationId xmlns:a16="http://schemas.microsoft.com/office/drawing/2014/main" id="{E0A5B6C2-8CEA-40CC-98FA-BB34025DEFB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86759663"/>
              </p:ext>
            </p:extLst>
          </p:nvPr>
        </p:nvGraphicFramePr>
        <p:xfrm>
          <a:off x="6028160" y="4221088"/>
          <a:ext cx="1482725" cy="23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4" name="Equation" r:id="rId12" imgW="1482451" imgH="237550" progId="Equation.DSMT4">
                  <p:embed/>
                </p:oleObj>
              </mc:Choice>
              <mc:Fallback>
                <p:oleObj name="Equation" r:id="rId12" imgW="1482451" imgH="23755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3"/>
                      <a:stretch>
                        <a:fillRect/>
                      </a:stretch>
                    </p:blipFill>
                    <p:spPr>
                      <a:xfrm>
                        <a:off x="6028160" y="4221088"/>
                        <a:ext cx="1482725" cy="2381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文本框 15">
            <a:extLst>
              <a:ext uri="{FF2B5EF4-FFF2-40B4-BE49-F238E27FC236}">
                <a16:creationId xmlns:a16="http://schemas.microsoft.com/office/drawing/2014/main" id="{08ED1634-E50C-458F-AF4F-967BCC9F5BEE}"/>
              </a:ext>
            </a:extLst>
          </p:cNvPr>
          <p:cNvSpPr txBox="1"/>
          <p:nvPr/>
        </p:nvSpPr>
        <p:spPr>
          <a:xfrm>
            <a:off x="5209456" y="2924944"/>
            <a:ext cx="26642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Parameter setting</a:t>
            </a:r>
            <a:endParaRPr lang="zh-CN" altLang="en-US" dirty="0"/>
          </a:p>
        </p:txBody>
      </p:sp>
      <p:sp>
        <p:nvSpPr>
          <p:cNvPr id="17" name="矩形: 圆角 16">
            <a:extLst>
              <a:ext uri="{FF2B5EF4-FFF2-40B4-BE49-F238E27FC236}">
                <a16:creationId xmlns:a16="http://schemas.microsoft.com/office/drawing/2014/main" id="{1D8195FE-12DA-411B-B7F3-E4094BA35FEA}"/>
              </a:ext>
            </a:extLst>
          </p:cNvPr>
          <p:cNvSpPr/>
          <p:nvPr/>
        </p:nvSpPr>
        <p:spPr>
          <a:xfrm>
            <a:off x="4932040" y="4525566"/>
            <a:ext cx="3960440" cy="1518493"/>
          </a:xfrm>
          <a:prstGeom prst="roundRect">
            <a:avLst/>
          </a:prstGeom>
          <a:noFill/>
          <a:ln>
            <a:solidFill>
              <a:schemeClr val="accent2">
                <a:lumMod val="40000"/>
                <a:lumOff val="60000"/>
              </a:schemeClr>
            </a:solidFill>
            <a:prstDash val="lg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13" name="对象 12">
            <a:extLst>
              <a:ext uri="{FF2B5EF4-FFF2-40B4-BE49-F238E27FC236}">
                <a16:creationId xmlns:a16="http://schemas.microsoft.com/office/drawing/2014/main" id="{E73AC327-B0CF-40B5-A457-FB91042A55A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97266797"/>
              </p:ext>
            </p:extLst>
          </p:nvPr>
        </p:nvGraphicFramePr>
        <p:xfrm>
          <a:off x="6277446" y="4869160"/>
          <a:ext cx="1187450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5" name="Equation" r:id="rId14" imgW="1187612" imgH="456412" progId="Equation.DSMT4">
                  <p:embed/>
                </p:oleObj>
              </mc:Choice>
              <mc:Fallback>
                <p:oleObj name="Equation" r:id="rId14" imgW="1187612" imgH="456412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5"/>
                      <a:stretch>
                        <a:fillRect/>
                      </a:stretch>
                    </p:blipFill>
                    <p:spPr>
                      <a:xfrm>
                        <a:off x="6277446" y="4869160"/>
                        <a:ext cx="1187450" cy="4572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4" name="对象 13">
            <a:extLst>
              <a:ext uri="{FF2B5EF4-FFF2-40B4-BE49-F238E27FC236}">
                <a16:creationId xmlns:a16="http://schemas.microsoft.com/office/drawing/2014/main" id="{A5DDE699-F789-4058-B4B0-AA7F8BF5DDD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90397601"/>
              </p:ext>
            </p:extLst>
          </p:nvPr>
        </p:nvGraphicFramePr>
        <p:xfrm>
          <a:off x="5671331" y="5302399"/>
          <a:ext cx="2460625" cy="7318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9406" name="Equation" r:id="rId16" imgW="2461055" imgH="732056" progId="Equation.DSMT4">
                  <p:embed/>
                </p:oleObj>
              </mc:Choice>
              <mc:Fallback>
                <p:oleObj name="Equation" r:id="rId16" imgW="2461055" imgH="732056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17"/>
                      <a:stretch>
                        <a:fillRect/>
                      </a:stretch>
                    </p:blipFill>
                    <p:spPr>
                      <a:xfrm>
                        <a:off x="5671331" y="5302399"/>
                        <a:ext cx="2460625" cy="73183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" name="文本框 19">
            <a:extLst>
              <a:ext uri="{FF2B5EF4-FFF2-40B4-BE49-F238E27FC236}">
                <a16:creationId xmlns:a16="http://schemas.microsoft.com/office/drawing/2014/main" id="{44A2322A-8D12-4E32-B5D1-B11F238CAC8D}"/>
              </a:ext>
            </a:extLst>
          </p:cNvPr>
          <p:cNvSpPr txBox="1"/>
          <p:nvPr/>
        </p:nvSpPr>
        <p:spPr>
          <a:xfrm>
            <a:off x="5209456" y="4509120"/>
            <a:ext cx="30963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Soft-thresholding truncation</a:t>
            </a:r>
            <a:endParaRPr lang="zh-CN" altLang="en-US" dirty="0"/>
          </a:p>
        </p:txBody>
      </p:sp>
      <p:pic>
        <p:nvPicPr>
          <p:cNvPr id="15" name="图片 14">
            <a:extLst>
              <a:ext uri="{FF2B5EF4-FFF2-40B4-BE49-F238E27FC236}">
                <a16:creationId xmlns:a16="http://schemas.microsoft.com/office/drawing/2014/main" id="{4DF61019-FFDC-4CAD-859F-D945ACDFE09E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93245" y="1751710"/>
            <a:ext cx="4441984" cy="3085132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E2DB80B9-C3B0-4D0C-838A-21317C077DF6}"/>
              </a:ext>
            </a:extLst>
          </p:cNvPr>
          <p:cNvSpPr/>
          <p:nvPr/>
        </p:nvSpPr>
        <p:spPr>
          <a:xfrm>
            <a:off x="323527" y="3553846"/>
            <a:ext cx="4211701" cy="1282996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57188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+mn-lt"/>
              </a:rPr>
              <a:t>Methodology</a:t>
            </a:r>
            <a:endParaRPr lang="zh-CN" altLang="en-US" sz="2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19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FAB8BB6-907F-4031-A9DC-DE581C7F54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3508" y="2132856"/>
            <a:ext cx="4371975" cy="1971675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6E660857-E6A6-4852-B7E7-85EE79676B3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13970" y="1772816"/>
            <a:ext cx="4371975" cy="3034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3996541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+mn-lt"/>
              </a:rPr>
              <a:t>Methodology</a:t>
            </a:r>
            <a:endParaRPr lang="zh-CN" altLang="en-US" sz="2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20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5B3B23FB-ABCB-45FF-B731-90572BC1330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58258" y="1971755"/>
            <a:ext cx="4343400" cy="2969413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153E5B97-2E31-42C0-908B-55101C0A9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112" y="1644501"/>
            <a:ext cx="4351462" cy="3568997"/>
          </a:xfrm>
          <a:prstGeom prst="rect">
            <a:avLst/>
          </a:prstGeom>
        </p:spPr>
      </p:pic>
      <p:sp>
        <p:nvSpPr>
          <p:cNvPr id="8" name="矩形: 圆角 7">
            <a:extLst>
              <a:ext uri="{FF2B5EF4-FFF2-40B4-BE49-F238E27FC236}">
                <a16:creationId xmlns:a16="http://schemas.microsoft.com/office/drawing/2014/main" id="{83554E50-E9BC-475B-94FD-E5C3A81E1D6F}"/>
              </a:ext>
            </a:extLst>
          </p:cNvPr>
          <p:cNvSpPr/>
          <p:nvPr/>
        </p:nvSpPr>
        <p:spPr>
          <a:xfrm>
            <a:off x="0" y="1876056"/>
            <a:ext cx="4558258" cy="1768967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5CD5C67B-FFDF-4911-BB5A-EA26F71390F2}"/>
              </a:ext>
            </a:extLst>
          </p:cNvPr>
          <p:cNvSpPr/>
          <p:nvPr/>
        </p:nvSpPr>
        <p:spPr>
          <a:xfrm>
            <a:off x="-19412" y="3645025"/>
            <a:ext cx="4558258" cy="1132281"/>
          </a:xfrm>
          <a:prstGeom prst="roundRect">
            <a:avLst/>
          </a:prstGeom>
          <a:noFill/>
          <a:ln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373378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+mn-lt"/>
              </a:rPr>
              <a:t>Methodology</a:t>
            </a:r>
            <a:endParaRPr lang="zh-CN" altLang="en-US" sz="2400" dirty="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4E0DD9FE-D250-40BC-A44A-70AB3106A3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36713"/>
            <a:ext cx="3203848" cy="6021288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53B3C7A9-4DC9-4DD6-AAC3-C9F4D8F862F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19874" y="1988840"/>
            <a:ext cx="5040560" cy="3498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693595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+mj-lt"/>
              </a:rPr>
              <a:t>Results</a:t>
            </a:r>
            <a:endParaRPr lang="zh-CN" altLang="en-US" sz="24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50183AA-C976-43AC-AFAE-70CF8653AA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1720" y="981881"/>
            <a:ext cx="4752975" cy="260032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192391A6-5C29-4F50-B7E2-CBB016D8FF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9344" y="3935293"/>
            <a:ext cx="4657725" cy="2057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912343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+mj-lt"/>
              </a:rPr>
              <a:t>Results</a:t>
            </a:r>
            <a:endParaRPr lang="zh-CN" altLang="en-US" sz="24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0B621F2-688A-43A0-981C-EE25F78102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2025" y="908720"/>
            <a:ext cx="7107378" cy="389817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41820FE1-8B85-4E54-8B40-78C52FC9B48F}"/>
              </a:ext>
            </a:extLst>
          </p:cNvPr>
          <p:cNvSpPr txBox="1"/>
          <p:nvPr/>
        </p:nvSpPr>
        <p:spPr>
          <a:xfrm>
            <a:off x="962025" y="4806899"/>
            <a:ext cx="7467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SLEMO-NR</a:t>
            </a:r>
            <a:r>
              <a:rPr lang="en-US" altLang="zh-CN" baseline="-25000" dirty="0"/>
              <a:t>I</a:t>
            </a:r>
            <a:r>
              <a:rPr lang="en-US" altLang="zh-CN" dirty="0"/>
              <a:t>: without LPCA</a:t>
            </a:r>
          </a:p>
          <a:p>
            <a:r>
              <a:rPr lang="en-US" altLang="zh-CN" dirty="0"/>
              <a:t>SLEMO-NR</a:t>
            </a:r>
            <a:r>
              <a:rPr lang="en-US" altLang="zh-CN" baseline="-25000" dirty="0"/>
              <a:t>II</a:t>
            </a:r>
            <a:r>
              <a:rPr lang="en-US" altLang="zh-CN" dirty="0"/>
              <a:t>: with RBM</a:t>
            </a:r>
          </a:p>
          <a:p>
            <a:r>
              <a:rPr lang="en-US" altLang="zh-CN" dirty="0"/>
              <a:t>SLEMO-NR</a:t>
            </a:r>
            <a:r>
              <a:rPr lang="en-US" altLang="zh-CN" baseline="-25000" dirty="0"/>
              <a:t>III</a:t>
            </a:r>
            <a:r>
              <a:rPr lang="en-US" altLang="zh-CN" dirty="0"/>
              <a:t>: with PCA</a:t>
            </a:r>
          </a:p>
          <a:p>
            <a:r>
              <a:rPr lang="en-US" altLang="zh-CN" dirty="0"/>
              <a:t>SLEMO-NR: our work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6933285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+mj-lt"/>
              </a:rPr>
              <a:t>Results</a:t>
            </a:r>
            <a:endParaRPr lang="zh-CN" altLang="en-US" sz="24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24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DC66B436-4B84-481B-BED8-9DAC2DDC3E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2975" y="908720"/>
            <a:ext cx="7229425" cy="3642306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FE751F62-983F-4F84-84E5-FBE01500B90C}"/>
              </a:ext>
            </a:extLst>
          </p:cNvPr>
          <p:cNvSpPr txBox="1"/>
          <p:nvPr/>
        </p:nvSpPr>
        <p:spPr>
          <a:xfrm>
            <a:off x="962025" y="4806899"/>
            <a:ext cx="74676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SLEMO-NR</a:t>
            </a:r>
            <a:r>
              <a:rPr lang="en-US" altLang="zh-CN" baseline="-25000" dirty="0"/>
              <a:t>IV</a:t>
            </a:r>
            <a:r>
              <a:rPr lang="en-US" altLang="zh-CN" dirty="0"/>
              <a:t>: without preference-based local search operator</a:t>
            </a:r>
          </a:p>
          <a:p>
            <a:r>
              <a:rPr lang="en-US" altLang="zh-CN" dirty="0"/>
              <a:t>SPLS: a representative IST-based MOEA</a:t>
            </a:r>
          </a:p>
          <a:p>
            <a:r>
              <a:rPr lang="en-US" altLang="zh-CN" dirty="0"/>
              <a:t>SLEMO-NR: our work</a:t>
            </a: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zh-CN" altLang="en-US" baseline="-25000" dirty="0"/>
          </a:p>
        </p:txBody>
      </p:sp>
    </p:spTree>
    <p:extLst>
      <p:ext uri="{BB962C8B-B14F-4D97-AF65-F5344CB8AC3E}">
        <p14:creationId xmlns:p14="http://schemas.microsoft.com/office/powerpoint/2010/main" val="177610144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+mj-lt"/>
              </a:rPr>
              <a:t>Results</a:t>
            </a:r>
            <a:endParaRPr lang="zh-CN" altLang="en-US" sz="24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25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25CA9344-07D5-4C5D-AD8B-7FBA118562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496" y="983628"/>
            <a:ext cx="5552646" cy="2522612"/>
          </a:xfrm>
          <a:prstGeom prst="rect">
            <a:avLst/>
          </a:prstGeom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205A3E3C-534E-4F7A-8F6B-D1FA4F51739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08520" y="3436987"/>
            <a:ext cx="5904656" cy="2595372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66BC442-C43E-4BF7-8F15-8C4839EC6D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3070" y="2273314"/>
            <a:ext cx="3503034" cy="22953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93701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+mj-lt"/>
              </a:rPr>
              <a:t>Results</a:t>
            </a:r>
            <a:endParaRPr lang="zh-CN" altLang="en-US" sz="2400" dirty="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26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3EAEFAD0-8FEB-4D27-B850-4ADEFBF10A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1520" y="953614"/>
            <a:ext cx="5339072" cy="2488731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1F14D667-A51F-4049-A90B-5E58F23A8C7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1520" y="3463280"/>
            <a:ext cx="5483088" cy="249424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9D6E161A-CAE5-4271-B5AB-2CA69CB44F9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2436" y="2446165"/>
            <a:ext cx="3528390" cy="24486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52239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Arial"/>
              </a:rPr>
              <a:t>Results</a:t>
            </a:r>
            <a:endParaRPr lang="zh-CN" altLang="en-US" sz="2400" dirty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27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647A6099-C0D5-477B-9CA0-7B89D58A1A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156" y="1340768"/>
            <a:ext cx="8215687" cy="43151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5560258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Arial"/>
              </a:rPr>
              <a:t>Results</a:t>
            </a:r>
            <a:endParaRPr lang="zh-CN" altLang="en-US" sz="2400" dirty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28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77396808-7AC5-40D0-8519-CEDBADFF7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536" y="1268760"/>
            <a:ext cx="8243013" cy="44644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144779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Arial"/>
              </a:rPr>
              <a:t>Results</a:t>
            </a:r>
            <a:endParaRPr lang="zh-CN" altLang="en-US" sz="2400" dirty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29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35A135C4-82B0-4295-875D-2F2F9419C4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107" y="1803412"/>
            <a:ext cx="4512501" cy="3384376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F34F86B7-6892-4D6C-8153-6DDF62C884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31499" y="1803412"/>
            <a:ext cx="4512501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47481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Arial"/>
              </a:rPr>
              <a:t>Results</a:t>
            </a:r>
            <a:endParaRPr lang="zh-CN" altLang="en-US" sz="2400" dirty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30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C4A33D7-4237-4F76-91B9-AEFFFE38A6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7990" y="1736811"/>
            <a:ext cx="4512502" cy="338437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B3CB5C78-B6FE-449A-BC9B-E8D38572A6C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496" y="1733256"/>
            <a:ext cx="4512501" cy="3384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70374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Arial"/>
              </a:rPr>
              <a:t>Results</a:t>
            </a:r>
            <a:endParaRPr lang="zh-CN" altLang="en-US" sz="2400" dirty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31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graphicFrame>
        <p:nvGraphicFramePr>
          <p:cNvPr id="9" name="对象 8">
            <a:extLst>
              <a:ext uri="{FF2B5EF4-FFF2-40B4-BE49-F238E27FC236}">
                <a16:creationId xmlns:a16="http://schemas.microsoft.com/office/drawing/2014/main" id="{8965AD2B-AC7C-4BBC-8719-AD8DC7604F5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33768733"/>
              </p:ext>
            </p:extLst>
          </p:nvPr>
        </p:nvGraphicFramePr>
        <p:xfrm>
          <a:off x="2395215" y="1196752"/>
          <a:ext cx="4353569" cy="466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4" name="Equation" r:id="rId4" imgW="2133360" imgH="228600" progId="Equation.DSMT4">
                  <p:embed/>
                </p:oleObj>
              </mc:Choice>
              <mc:Fallback>
                <p:oleObj name="Equation" r:id="rId4" imgW="2133360" imgH="228600" progId="Equation.DSMT4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2395215" y="1196752"/>
                        <a:ext cx="4353569" cy="46645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0" name="文本框 9">
            <a:extLst>
              <a:ext uri="{FF2B5EF4-FFF2-40B4-BE49-F238E27FC236}">
                <a16:creationId xmlns:a16="http://schemas.microsoft.com/office/drawing/2014/main" id="{90F05331-1D2B-47DA-98AB-57F56C507760}"/>
              </a:ext>
            </a:extLst>
          </p:cNvPr>
          <p:cNvSpPr txBox="1"/>
          <p:nvPr/>
        </p:nvSpPr>
        <p:spPr>
          <a:xfrm>
            <a:off x="251520" y="1252541"/>
            <a:ext cx="2415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b="1" dirty="0"/>
              <a:t>Complexity</a:t>
            </a:r>
            <a:endParaRPr lang="zh-CN" altLang="en-US" b="1" dirty="0"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FF75C85-F60A-4236-8545-0F88B5D877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7544" y="2724150"/>
            <a:ext cx="8289971" cy="1568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0919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标题 1">
            <a:extLst>
              <a:ext uri="{FF2B5EF4-FFF2-40B4-BE49-F238E27FC236}">
                <a16:creationId xmlns:a16="http://schemas.microsoft.com/office/drawing/2014/main" id="{4DB2D8B0-9965-4C00-9473-9BFEE627C6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928938" y="0"/>
            <a:ext cx="6072187" cy="725488"/>
          </a:xfrm>
        </p:spPr>
        <p:txBody>
          <a:bodyPr/>
          <a:lstStyle/>
          <a:p>
            <a:pPr eaLnBrk="1" hangingPunct="1"/>
            <a:r>
              <a:rPr lang="en-US" altLang="zh-CN" sz="2400" dirty="0">
                <a:solidFill>
                  <a:srgbClr val="FFFFFF"/>
                </a:solidFill>
                <a:latin typeface="Arial"/>
              </a:rPr>
              <a:t>Results</a:t>
            </a:r>
            <a:endParaRPr lang="zh-CN" altLang="en-US" sz="2400" dirty="0">
              <a:solidFill>
                <a:srgbClr val="FFFFFF"/>
              </a:solidFill>
              <a:latin typeface="Times New Roman" panose="02020603050405020304" pitchFamily="18" charset="0"/>
            </a:endParaRPr>
          </a:p>
        </p:txBody>
      </p:sp>
      <p:sp>
        <p:nvSpPr>
          <p:cNvPr id="12291" name="灯片编号占位符 3">
            <a:extLst>
              <a:ext uri="{FF2B5EF4-FFF2-40B4-BE49-F238E27FC236}">
                <a16:creationId xmlns:a16="http://schemas.microsoft.com/office/drawing/2014/main" id="{C13BE600-072E-44D7-A7CD-C8141E1EAB0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3B18F4EA-3FFC-4AF6-B95D-941550289444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32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sp>
        <p:nvSpPr>
          <p:cNvPr id="18" name="矩形 17"/>
          <p:cNvSpPr/>
          <p:nvPr/>
        </p:nvSpPr>
        <p:spPr>
          <a:xfrm>
            <a:off x="185891" y="3131676"/>
            <a:ext cx="88152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/>
              <a:t>Refer to our paper and supplementary materials for more experimental results.</a:t>
            </a:r>
            <a:endParaRPr lang="zh-CN" altLang="en-US" b="1" dirty="0"/>
          </a:p>
        </p:txBody>
      </p:sp>
    </p:spTree>
    <p:extLst>
      <p:ext uri="{BB962C8B-B14F-4D97-AF65-F5344CB8AC3E}">
        <p14:creationId xmlns:p14="http://schemas.microsoft.com/office/powerpoint/2010/main" val="362613136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灯片编号占位符 3">
            <a:extLst>
              <a:ext uri="{FF2B5EF4-FFF2-40B4-BE49-F238E27FC236}">
                <a16:creationId xmlns:a16="http://schemas.microsoft.com/office/drawing/2014/main" id="{0DD6C909-2647-44C9-9068-11FA5122011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FontTx/>
              <a:buNone/>
            </a:pPr>
            <a:fld id="{C3F2EC38-D92B-45C6-9F68-0AF9033D68F2}" type="slidenum">
              <a:rPr lang="en-US" altLang="zh-CN" sz="1400" smtClean="0">
                <a:latin typeface="Times New Roman" panose="02020603050405020304" pitchFamily="18" charset="0"/>
              </a:rPr>
              <a:pPr>
                <a:spcBef>
                  <a:spcPct val="0"/>
                </a:spcBef>
                <a:buFontTx/>
                <a:buNone/>
              </a:pPr>
              <a:t>33</a:t>
            </a:fld>
            <a:endParaRPr lang="en-US" altLang="zh-CN" sz="1400">
              <a:latin typeface="Times New Roman" panose="02020603050405020304" pitchFamily="18" charset="0"/>
            </a:endParaRPr>
          </a:p>
        </p:txBody>
      </p:sp>
      <p:sp>
        <p:nvSpPr>
          <p:cNvPr id="30723" name="矩形 1">
            <a:extLst>
              <a:ext uri="{FF2B5EF4-FFF2-40B4-BE49-F238E27FC236}">
                <a16:creationId xmlns:a16="http://schemas.microsoft.com/office/drawing/2014/main" id="{A2BE87CC-ED21-4688-83AA-25C481C24F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1989138"/>
            <a:ext cx="9144000" cy="1727200"/>
          </a:xfrm>
          <a:prstGeom prst="rect">
            <a:avLst/>
          </a:prstGeom>
          <a:solidFill>
            <a:srgbClr val="AF2125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har char="•"/>
              <a:defRPr sz="3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sz="28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endParaRPr lang="zh-CN" altLang="zh-CN" sz="1800">
              <a:solidFill>
                <a:srgbClr val="005A9E"/>
              </a:solidFill>
            </a:endParaRPr>
          </a:p>
        </p:txBody>
      </p:sp>
      <p:sp>
        <p:nvSpPr>
          <p:cNvPr id="30724" name="直接连接符 3">
            <a:extLst>
              <a:ext uri="{FF2B5EF4-FFF2-40B4-BE49-F238E27FC236}">
                <a16:creationId xmlns:a16="http://schemas.microsoft.com/office/drawing/2014/main" id="{88B8C035-EBE4-4679-AF00-825A1CD83D18}"/>
              </a:ext>
            </a:extLst>
          </p:cNvPr>
          <p:cNvSpPr>
            <a:spLocks noChangeShapeType="1"/>
          </p:cNvSpPr>
          <p:nvPr/>
        </p:nvSpPr>
        <p:spPr bwMode="auto">
          <a:xfrm>
            <a:off x="0" y="3876675"/>
            <a:ext cx="9144000" cy="1588"/>
          </a:xfrm>
          <a:prstGeom prst="line">
            <a:avLst/>
          </a:prstGeom>
          <a:noFill/>
          <a:ln w="76200">
            <a:solidFill>
              <a:srgbClr val="AF2125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00F246E2-F9C8-447C-9E25-20336984DAA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2214563"/>
            <a:ext cx="8858250" cy="14700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anchor="ctr"/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ts val="4800"/>
              </a:lnSpc>
              <a:defRPr/>
            </a:pPr>
            <a:r>
              <a:rPr lang="en-US" altLang="zh-CN" sz="6000" b="1" kern="0" dirty="0">
                <a:solidFill>
                  <a:schemeClr val="bg1"/>
                </a:solidFill>
                <a:latin typeface="Arial" panose="020B0604020202020204" pitchFamily="34" charset="0"/>
                <a:ea typeface="黑体" pitchFamily="49" charset="-122"/>
                <a:cs typeface="Arial" panose="020B0604020202020204" pitchFamily="34" charset="0"/>
              </a:rPr>
              <a:t>Thanks</a:t>
            </a:r>
            <a:r>
              <a:rPr lang="zh-CN" altLang="en-US" sz="6000" b="1" kern="0" dirty="0">
                <a:solidFill>
                  <a:schemeClr val="bg1"/>
                </a:solidFill>
                <a:latin typeface="Arial" panose="020B0604020202020204" pitchFamily="34" charset="0"/>
                <a:ea typeface="黑体" pitchFamily="49" charset="-122"/>
                <a:cs typeface="Arial" panose="020B0604020202020204" pitchFamily="34" charset="0"/>
              </a:rPr>
              <a:t>！</a:t>
            </a:r>
            <a:endParaRPr lang="en-US" altLang="zh-CN" sz="6000" b="1" kern="0" dirty="0">
              <a:solidFill>
                <a:schemeClr val="bg1"/>
              </a:solidFill>
              <a:latin typeface="Arial" panose="020B0604020202020204" pitchFamily="34" charset="0"/>
              <a:ea typeface="黑体" pitchFamily="49" charset="-122"/>
              <a:cs typeface="Arial" panose="020B0604020202020204" pitchFamily="34" charset="0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AE9E20AF-2686-4E4D-928E-E157CC2F16F3}"/>
              </a:ext>
            </a:extLst>
          </p:cNvPr>
          <p:cNvSpPr/>
          <p:nvPr/>
        </p:nvSpPr>
        <p:spPr>
          <a:xfrm>
            <a:off x="143508" y="6345781"/>
            <a:ext cx="5256584" cy="40011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spAutoFit/>
          </a:bodyPr>
          <a:lstStyle/>
          <a:p>
            <a:pPr marL="0" lvl="3" algn="just">
              <a:spcBef>
                <a:spcPct val="10000"/>
              </a:spcBef>
              <a:buClr>
                <a:srgbClr val="C00000"/>
              </a:buClr>
              <a:buSzPct val="110000"/>
              <a:defRPr/>
            </a:pPr>
            <a:r>
              <a:rPr lang="zh-CN" altLang="en-US" sz="2000" b="1" kern="0" noProof="1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广州研究院</a:t>
            </a:r>
            <a:r>
              <a:rPr lang="zh-CN" altLang="en-US" sz="20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zh-CN" sz="1600" b="1" kern="0" noProof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Guangzhou Institute of Technology</a:t>
            </a:r>
          </a:p>
        </p:txBody>
      </p:sp>
      <p:sp>
        <p:nvSpPr>
          <p:cNvPr id="2" name="矩形 1"/>
          <p:cNvSpPr/>
          <p:nvPr/>
        </p:nvSpPr>
        <p:spPr>
          <a:xfrm>
            <a:off x="3864915" y="4233619"/>
            <a:ext cx="1374094" cy="71647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eaLnBrk="1" hangingPunct="1">
              <a:lnSpc>
                <a:spcPts val="4800"/>
              </a:lnSpc>
              <a:defRPr/>
            </a:pPr>
            <a:r>
              <a:rPr lang="en-US" altLang="zh-CN" sz="4800" kern="0" dirty="0">
                <a:latin typeface="Calibri" panose="020F0502020204030204" pitchFamily="34" charset="0"/>
                <a:ea typeface="黑体" pitchFamily="49" charset="-122"/>
                <a:cs typeface="Calibri" panose="020F0502020204030204" pitchFamily="34" charset="0"/>
              </a:rPr>
              <a:t>Q&amp;A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默认设计模板">
  <a:themeElements>
    <a:clrScheme name="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默认设计模板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18287</TotalTime>
  <Words>575</Words>
  <Application>Microsoft Office PowerPoint</Application>
  <PresentationFormat>全屏显示(4:3)</PresentationFormat>
  <Paragraphs>237</Paragraphs>
  <Slides>33</Slides>
  <Notes>32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33</vt:i4>
      </vt:variant>
    </vt:vector>
  </HeadingPairs>
  <TitlesOfParts>
    <vt:vector size="43" baseType="lpstr">
      <vt:lpstr>黑体</vt:lpstr>
      <vt:lpstr>宋体</vt:lpstr>
      <vt:lpstr>微软雅黑</vt:lpstr>
      <vt:lpstr>Arial</vt:lpstr>
      <vt:lpstr>Calibri</vt:lpstr>
      <vt:lpstr>Calibri Light</vt:lpstr>
      <vt:lpstr>Times New Roman</vt:lpstr>
      <vt:lpstr>默认设计模板</vt:lpstr>
      <vt:lpstr>Equation</vt:lpstr>
      <vt:lpstr>MathType 7.0 Equation</vt:lpstr>
      <vt:lpstr>A Multiobjective Evolutionary Approach for Solving Large-Scale Network Reconstruction Problems via Logistic Principal Component Analysis (IEEE Transactions on Cybernetics 2021) </vt:lpstr>
      <vt:lpstr>Background</vt:lpstr>
      <vt:lpstr>Background</vt:lpstr>
      <vt:lpstr>Motivation</vt:lpstr>
      <vt:lpstr>Motivation</vt:lpstr>
      <vt:lpstr>Motivation</vt:lpstr>
      <vt:lpstr>Motivation</vt:lpstr>
      <vt:lpstr>Motivation</vt:lpstr>
      <vt:lpstr>Contribution</vt:lpstr>
      <vt:lpstr>Contribution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Methodology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Results</vt:lpstr>
      <vt:lpstr>PowerPoint 演示文稿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User</dc:creator>
  <cp:lastModifiedBy>ycl</cp:lastModifiedBy>
  <cp:revision>1376</cp:revision>
  <dcterms:created xsi:type="dcterms:W3CDTF">2014-03-21T03:02:00Z</dcterms:created>
  <dcterms:modified xsi:type="dcterms:W3CDTF">2021-10-22T07:20:45Z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2052-10.1.0.6930</vt:lpwstr>
  </property>
</Properties>
</file>